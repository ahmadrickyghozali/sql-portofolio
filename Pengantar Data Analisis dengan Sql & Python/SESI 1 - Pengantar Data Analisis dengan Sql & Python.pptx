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8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732673"/>
            <a:ext cx="397891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554CA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1212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554CA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1212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554CA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554CA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4073"/>
            <a:ext cx="5616575" cy="869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554CA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9937"/>
            <a:ext cx="8324850" cy="3247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1212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y.dqlab.id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881880"/>
            <a:chOff x="0" y="0"/>
            <a:chExt cx="9144000" cy="4881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48815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90485"/>
              <a:ext cx="589266" cy="8999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8725" y="933632"/>
            <a:ext cx="336994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1295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</a:rPr>
              <a:t>Pengantar </a:t>
            </a:r>
            <a:r>
              <a:rPr sz="3600" spc="-145" dirty="0">
                <a:solidFill>
                  <a:srgbClr val="FFFFFF"/>
                </a:solidFill>
              </a:rPr>
              <a:t>Google</a:t>
            </a:r>
            <a:r>
              <a:rPr sz="3600" spc="-400" dirty="0">
                <a:solidFill>
                  <a:srgbClr val="FFFFFF"/>
                </a:solidFill>
              </a:rPr>
              <a:t> </a:t>
            </a:r>
            <a:r>
              <a:rPr sz="3600" spc="-45" dirty="0">
                <a:solidFill>
                  <a:srgbClr val="FFFFFF"/>
                </a:solidFill>
              </a:rPr>
              <a:t>Cloud </a:t>
            </a:r>
            <a:r>
              <a:rPr sz="3600" spc="-10" dirty="0">
                <a:solidFill>
                  <a:srgbClr val="FFFFFF"/>
                </a:solidFill>
              </a:rPr>
              <a:t>Platform</a:t>
            </a:r>
            <a:endParaRPr sz="3600"/>
          </a:p>
          <a:p>
            <a:pPr marL="12700">
              <a:lnSpc>
                <a:spcPct val="100000"/>
              </a:lnSpc>
            </a:pPr>
            <a:r>
              <a:rPr sz="3600" spc="-60" dirty="0">
                <a:solidFill>
                  <a:srgbClr val="FFFFFF"/>
                </a:solidFill>
              </a:rPr>
              <a:t>Dan</a:t>
            </a:r>
            <a:r>
              <a:rPr sz="3600" spc="-415" dirty="0">
                <a:solidFill>
                  <a:srgbClr val="FFFFFF"/>
                </a:solidFill>
              </a:rPr>
              <a:t> </a:t>
            </a:r>
            <a:r>
              <a:rPr sz="3600" spc="-60" dirty="0">
                <a:solidFill>
                  <a:srgbClr val="FFFFFF"/>
                </a:solidFill>
              </a:rPr>
              <a:t>Database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288725" y="4182828"/>
            <a:ext cx="3785870" cy="4210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520"/>
              </a:lnSpc>
              <a:spcBef>
                <a:spcPts val="215"/>
              </a:spcBef>
            </a:pPr>
            <a:r>
              <a:rPr sz="1300" spc="-90" dirty="0">
                <a:solidFill>
                  <a:srgbClr val="212121"/>
                </a:solidFill>
                <a:latin typeface="Arial Black"/>
                <a:cs typeface="Arial Black"/>
              </a:rPr>
              <a:t>Sesi</a:t>
            </a:r>
            <a:r>
              <a:rPr sz="130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25" dirty="0">
                <a:solidFill>
                  <a:srgbClr val="212121"/>
                </a:solidFill>
                <a:latin typeface="Arial Black"/>
                <a:cs typeface="Arial Black"/>
              </a:rPr>
              <a:t>1-</a:t>
            </a:r>
            <a:r>
              <a:rPr sz="1300" spc="-35" dirty="0">
                <a:solidFill>
                  <a:srgbClr val="212121"/>
                </a:solidFill>
                <a:latin typeface="Arial Black"/>
                <a:cs typeface="Arial Black"/>
              </a:rPr>
              <a:t>Bootcamp</a:t>
            </a:r>
            <a:r>
              <a:rPr sz="1300" spc="-8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25" dirty="0">
                <a:solidFill>
                  <a:srgbClr val="212121"/>
                </a:solidFill>
                <a:latin typeface="Arial Black"/>
                <a:cs typeface="Arial Black"/>
              </a:rPr>
              <a:t>Data</a:t>
            </a:r>
            <a:r>
              <a:rPr sz="1300" spc="-8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Arial Black"/>
                <a:cs typeface="Arial Black"/>
              </a:rPr>
              <a:t>Afialyst</a:t>
            </a:r>
            <a:r>
              <a:rPr sz="1300" spc="-8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150" dirty="0">
                <a:solidFill>
                  <a:srgbClr val="212121"/>
                </a:solidFill>
                <a:latin typeface="Arial Black"/>
                <a:cs typeface="Arial Black"/>
              </a:rPr>
              <a:t>SQL</a:t>
            </a:r>
            <a:r>
              <a:rPr sz="1300" spc="-8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135" dirty="0">
                <a:solidFill>
                  <a:srgbClr val="212121"/>
                </a:solidFill>
                <a:latin typeface="Arial Black"/>
                <a:cs typeface="Arial Black"/>
              </a:rPr>
              <a:t>&amp;</a:t>
            </a:r>
            <a:r>
              <a:rPr sz="130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212121"/>
                </a:solidFill>
                <a:latin typeface="Arial Black"/>
                <a:cs typeface="Arial Black"/>
              </a:rPr>
              <a:t>Pythofi </a:t>
            </a:r>
            <a:r>
              <a:rPr sz="1300" spc="-35" dirty="0">
                <a:solidFill>
                  <a:srgbClr val="212121"/>
                </a:solidFill>
                <a:latin typeface="Arial Black"/>
                <a:cs typeface="Arial Black"/>
              </a:rPr>
              <a:t>usifig</a:t>
            </a:r>
            <a:r>
              <a:rPr sz="1300" spc="-7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40" dirty="0">
                <a:solidFill>
                  <a:srgbClr val="212121"/>
                </a:solidFill>
                <a:latin typeface="Arial Black"/>
                <a:cs typeface="Arial Black"/>
              </a:rPr>
              <a:t>Google</a:t>
            </a:r>
            <a:r>
              <a:rPr sz="1300" spc="-7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 Black"/>
                <a:cs typeface="Arial Black"/>
              </a:rPr>
              <a:t>Platform</a:t>
            </a:r>
            <a:endParaRPr sz="1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spc="-85" dirty="0"/>
              <a:t>Google</a:t>
            </a:r>
            <a:r>
              <a:rPr spc="-265" dirty="0"/>
              <a:t> </a:t>
            </a:r>
            <a:r>
              <a:rPr spc="-40" dirty="0"/>
              <a:t>Cloud</a:t>
            </a:r>
            <a:r>
              <a:rPr spc="-260" dirty="0"/>
              <a:t> </a:t>
            </a:r>
            <a:r>
              <a:rPr spc="-45" dirty="0"/>
              <a:t>Platform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97679"/>
            <a:ext cx="8352790" cy="2880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1475">
              <a:lnSpc>
                <a:spcPct val="106000"/>
              </a:lnSpc>
              <a:spcBef>
                <a:spcPts val="95"/>
              </a:spcBef>
            </a:pP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 Cloud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merupakan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salah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satu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provider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layanan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Cloud </a:t>
            </a: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Computing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di </a:t>
            </a:r>
            <a:r>
              <a:rPr sz="16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dunia</a:t>
            </a:r>
            <a:r>
              <a:rPr sz="165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65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mengandalkan</a:t>
            </a:r>
            <a:r>
              <a:rPr sz="165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infrastruktur</a:t>
            </a:r>
            <a:r>
              <a:rPr sz="165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65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Google.</a:t>
            </a:r>
            <a:endParaRPr sz="1650">
              <a:latin typeface="Lucida Sans Unicode"/>
              <a:cs typeface="Lucida Sans Unicode"/>
            </a:endParaRPr>
          </a:p>
          <a:p>
            <a:pPr marL="12700" marR="45720">
              <a:lnSpc>
                <a:spcPct val="106000"/>
              </a:lnSpc>
              <a:spcBef>
                <a:spcPts val="1200"/>
              </a:spcBef>
            </a:pP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6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Cloud</a:t>
            </a:r>
            <a:r>
              <a:rPr sz="16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menawarkan</a:t>
            </a:r>
            <a:r>
              <a:rPr sz="16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layanan</a:t>
            </a:r>
            <a:r>
              <a:rPr sz="16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6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komputasi,</a:t>
            </a:r>
            <a:r>
              <a:rPr sz="16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penyimpanan,</a:t>
            </a:r>
            <a:r>
              <a:rPr sz="16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jaringan,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big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data,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machine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learning,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Lucida Sans Unicode"/>
                <a:cs typeface="Lucida Sans Unicode"/>
              </a:rPr>
              <a:t>IoT,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serta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manajemen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cloud,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keamanan.</a:t>
            </a: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6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konteks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Big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Analytics,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GCP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akan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dibahas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3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tools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berikut:</a:t>
            </a:r>
            <a:endParaRPr sz="1650">
              <a:latin typeface="Lucida Sans Unicode"/>
              <a:cs typeface="Lucida Sans Unicode"/>
            </a:endParaRPr>
          </a:p>
          <a:p>
            <a:pPr marL="469265" indent="-344805">
              <a:lnSpc>
                <a:spcPct val="100000"/>
              </a:lnSpc>
              <a:spcBef>
                <a:spcPts val="1320"/>
              </a:spcBef>
              <a:buChar char="-"/>
              <a:tabLst>
                <a:tab pos="469265" algn="l"/>
              </a:tabLst>
            </a:pPr>
            <a:r>
              <a:rPr sz="16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BigQuery,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yaitu</a:t>
            </a:r>
            <a:r>
              <a:rPr sz="16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Analytical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Database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6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mengakses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2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6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dengan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query.</a:t>
            </a:r>
            <a:endParaRPr sz="1650">
              <a:latin typeface="Lucida Sans Unicode"/>
              <a:cs typeface="Lucida Sans Unicode"/>
            </a:endParaRPr>
          </a:p>
          <a:p>
            <a:pPr marL="469900" marR="421005" indent="-345440">
              <a:lnSpc>
                <a:spcPct val="106000"/>
              </a:lnSpc>
              <a:buChar char="-"/>
              <a:tabLst>
                <a:tab pos="469900" algn="l"/>
              </a:tabLst>
            </a:pP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Colab,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yaitu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notebook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6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digunakan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2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explanatory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65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machine</a:t>
            </a:r>
            <a:r>
              <a:rPr sz="165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learning.</a:t>
            </a:r>
            <a:endParaRPr sz="1650">
              <a:latin typeface="Lucida Sans Unicode"/>
              <a:cs typeface="Lucida Sans Unicode"/>
            </a:endParaRPr>
          </a:p>
          <a:p>
            <a:pPr marL="469265" indent="-344805">
              <a:lnSpc>
                <a:spcPct val="100000"/>
              </a:lnSpc>
              <a:spcBef>
                <a:spcPts val="114"/>
              </a:spcBef>
              <a:buChar char="-"/>
              <a:tabLst>
                <a:tab pos="469265" algn="l"/>
              </a:tabLst>
            </a:pP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Looker,</a:t>
            </a:r>
            <a:r>
              <a:rPr sz="165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yaitu</a:t>
            </a:r>
            <a:r>
              <a:rPr sz="165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tools</a:t>
            </a:r>
            <a:r>
              <a:rPr sz="165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visualisasi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125" y="134377"/>
            <a:ext cx="339344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0" dirty="0"/>
              <a:t>Cloud</a:t>
            </a:r>
            <a:r>
              <a:rPr spc="-275" dirty="0"/>
              <a:t> </a:t>
            </a:r>
            <a:r>
              <a:rPr spc="-55" dirty="0"/>
              <a:t>vs</a:t>
            </a:r>
            <a:r>
              <a:rPr spc="-275" dirty="0"/>
              <a:t> </a:t>
            </a:r>
            <a:r>
              <a:rPr spc="-45" dirty="0"/>
              <a:t>On</a:t>
            </a:r>
            <a:r>
              <a:rPr spc="-275" dirty="0"/>
              <a:t> </a:t>
            </a:r>
            <a:r>
              <a:rPr spc="-65" dirty="0"/>
              <a:t>Premise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9312" y="936350"/>
          <a:ext cx="7889240" cy="3303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3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Perbandingan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Premise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Cloud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18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Deployment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Dalam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lingkungan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premise,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sumber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daya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di-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deploy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secara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85725" marR="82550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in-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house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berada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dalam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infrastruktur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perusahaan.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Sebuah perusahaan bertanggung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jawab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untuk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memelihara seluruh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proses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isu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akan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muncul.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809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Meski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beberapa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jenis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dari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computing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yakni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public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cloud,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private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cloud,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hybrid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cloud,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seluruh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sumber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daya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ditaruh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lingkungan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dari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penyedia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cloud.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Namun, perusahaan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memiliki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akses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sumber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daya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tersebut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dapat menggunakannya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sebanyak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perusahaan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butuhkan.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Biaya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303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Untuk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perusahaan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men-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deploy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software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pada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premise, mereka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bertanggung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jawab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atas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ongkos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server, konsumsi power,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ruangan.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9652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Perusahaan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memilih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hanya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perlu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membayar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sumber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daya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mereka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gunakan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tanpa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harus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membayar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maintenance.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Harga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akan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naik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turun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tergantung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dari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penggunaan.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8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Kendali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0922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lingkungan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premise, perusahaan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memiliki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hak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penuh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atas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mereka,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punya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kendali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penuh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atas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apa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terjadi,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baik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itu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hal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buruk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atau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baik.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Perusahaan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memiliki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sensitivitas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tinggi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atas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keamanan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pribadi,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biasanya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akan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ragu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untuk menggunakan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cloud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0223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Dalam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lingkungan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computing,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pertanyaan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akan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kepemilikan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masih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menjadi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pertanyaan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mendasar.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kunci</a:t>
                      </a:r>
                      <a:r>
                        <a:rPr sz="8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enkripsi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vendor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cloud,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sehingga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apabila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hal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tidak terduga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terjadi,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Anda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mungkin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tidak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bisa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mengakses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data-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tersebut.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18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Compliance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081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Banyak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perusahaan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kini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beroperasi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bawah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kendali regulasi tertentu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seperti perusahaan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bergerak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telehealth, e-learning,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lain-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lain.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Untuk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perusahaan-perusahaan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yang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berada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dalam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regulasi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seperti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itu,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adalah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suatu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keharusan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untuk tetap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patuh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tahu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mereka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kapan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pun.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825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erusahaan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memilih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model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computing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harus memastikan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bahwa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penyedia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cloud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mereka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sudah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sesuai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dan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patuh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dengan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regulasi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industri.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Data-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yang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sensitif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harus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diamankan,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sekaligus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konsumen,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partner,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karyawan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harus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memastikan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data-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mereka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sudah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aman.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86624" y="4834611"/>
            <a:ext cx="1688464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EEEEEE"/>
                </a:solidFill>
                <a:latin typeface="Arial MT"/>
                <a:cs typeface="Arial MT"/>
              </a:rPr>
              <a:t>Source:</a:t>
            </a:r>
            <a:r>
              <a:rPr sz="800" spc="5" dirty="0">
                <a:solidFill>
                  <a:srgbClr val="EEEEEE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EEEEEE"/>
                </a:solidFill>
                <a:latin typeface="Arial MT"/>
                <a:cs typeface="Arial MT"/>
              </a:rPr>
              <a:t>https://indonesiancloud.com/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0" dirty="0"/>
              <a:t>BigQuery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08283"/>
            <a:ext cx="8256270" cy="279781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260"/>
              </a:spcBef>
            </a:pP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BigQuery</a:t>
            </a:r>
            <a:r>
              <a:rPr sz="18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8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layanan</a:t>
            </a:r>
            <a:r>
              <a:rPr sz="18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pengolahan</a:t>
            </a:r>
            <a:r>
              <a:rPr sz="18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8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berbasis</a:t>
            </a:r>
            <a:r>
              <a:rPr sz="18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cloud</a:t>
            </a:r>
            <a:r>
              <a:rPr sz="18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disediakan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oleh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8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Cloud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Platform.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BigQuery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dirancang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untuk </a:t>
            </a:r>
            <a:r>
              <a:rPr sz="18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menganalisis</a:t>
            </a:r>
            <a:r>
              <a:rPr sz="18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8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8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skala</a:t>
            </a:r>
            <a:r>
              <a:rPr sz="18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besar</a:t>
            </a:r>
            <a:r>
              <a:rPr sz="18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dengan</a:t>
            </a:r>
            <a:r>
              <a:rPr sz="18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cepat</a:t>
            </a:r>
            <a:r>
              <a:rPr sz="18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8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efisien.</a:t>
            </a:r>
            <a:r>
              <a:rPr sz="18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Ini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8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solusi</a:t>
            </a:r>
            <a:r>
              <a:rPr sz="18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8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tangguh</a:t>
            </a:r>
            <a:r>
              <a:rPr sz="18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8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kebutuhan</a:t>
            </a:r>
            <a:r>
              <a:rPr sz="18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analisis</a:t>
            </a:r>
            <a:r>
              <a:rPr sz="18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data,</a:t>
            </a:r>
            <a:r>
              <a:rPr sz="18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pemodelan,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800" spc="-9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visualisasi.</a:t>
            </a:r>
            <a:endParaRPr sz="1800">
              <a:latin typeface="Lucida Sans Unicode"/>
              <a:cs typeface="Lucida Sans Unicode"/>
            </a:endParaRPr>
          </a:p>
          <a:p>
            <a:pPr marL="12700" marR="12065">
              <a:lnSpc>
                <a:spcPts val="2050"/>
              </a:lnSpc>
              <a:spcBef>
                <a:spcPts val="1210"/>
              </a:spcBef>
            </a:pP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BigQuery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menggunakan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arsitektur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terdistribusi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memanfaatkan </a:t>
            </a:r>
            <a:r>
              <a:rPr sz="18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infrastruktur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komputasi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penyimpanan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memproses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menganalisis</a:t>
            </a:r>
            <a:r>
              <a:rPr sz="18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8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sangat</a:t>
            </a:r>
            <a:r>
              <a:rPr sz="18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besar.</a:t>
            </a:r>
            <a:r>
              <a:rPr sz="18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Ini</a:t>
            </a:r>
            <a:r>
              <a:rPr sz="18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mendukung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pemrosesan paralel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kuat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dapat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menangani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kumpulan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berukuran </a:t>
            </a:r>
            <a:r>
              <a:rPr sz="18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terabyte</a:t>
            </a:r>
            <a:r>
              <a:rPr sz="1800" spc="-8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hingga</a:t>
            </a:r>
            <a:r>
              <a:rPr sz="1800" spc="-8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petabyte</a:t>
            </a:r>
            <a:r>
              <a:rPr sz="1800" spc="-8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dengan</a:t>
            </a:r>
            <a:r>
              <a:rPr sz="1800" spc="-8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mudah.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6387" y="397295"/>
            <a:ext cx="1614923" cy="8478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732673"/>
            <a:ext cx="11182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5" dirty="0"/>
              <a:t>Looker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4525" rIns="0" bIns="0" rtlCol="0">
            <a:spAutoFit/>
          </a:bodyPr>
          <a:lstStyle/>
          <a:p>
            <a:pPr marL="12700" marR="36195">
              <a:lnSpc>
                <a:spcPct val="105800"/>
              </a:lnSpc>
              <a:spcBef>
                <a:spcPts val="95"/>
              </a:spcBef>
            </a:pPr>
            <a:r>
              <a:rPr sz="1250" dirty="0"/>
              <a:t>Google</a:t>
            </a:r>
            <a:r>
              <a:rPr sz="1250" spc="45" dirty="0"/>
              <a:t> </a:t>
            </a:r>
            <a:r>
              <a:rPr sz="1250" spc="-10" dirty="0"/>
              <a:t>Looker</a:t>
            </a:r>
            <a:r>
              <a:rPr sz="1250" spc="45" dirty="0"/>
              <a:t> </a:t>
            </a:r>
            <a:r>
              <a:rPr sz="1250" spc="85" dirty="0"/>
              <a:t>adalah</a:t>
            </a:r>
            <a:r>
              <a:rPr sz="1250" spc="45" dirty="0"/>
              <a:t> </a:t>
            </a:r>
            <a:r>
              <a:rPr sz="1250" dirty="0"/>
              <a:t>platform</a:t>
            </a:r>
            <a:r>
              <a:rPr sz="1250" spc="45" dirty="0"/>
              <a:t> </a:t>
            </a:r>
            <a:r>
              <a:rPr sz="1250" dirty="0"/>
              <a:t>analitik</a:t>
            </a:r>
            <a:r>
              <a:rPr sz="1250" spc="50" dirty="0"/>
              <a:t> </a:t>
            </a:r>
            <a:r>
              <a:rPr sz="1250" spc="80" dirty="0"/>
              <a:t>dan</a:t>
            </a:r>
            <a:r>
              <a:rPr sz="1250" spc="45" dirty="0"/>
              <a:t> </a:t>
            </a:r>
            <a:r>
              <a:rPr sz="1250" dirty="0"/>
              <a:t>visualisasi</a:t>
            </a:r>
            <a:r>
              <a:rPr sz="1250" spc="45" dirty="0"/>
              <a:t> </a:t>
            </a:r>
            <a:r>
              <a:rPr sz="1250" spc="90" dirty="0"/>
              <a:t>data</a:t>
            </a:r>
            <a:r>
              <a:rPr sz="1250" spc="45" dirty="0"/>
              <a:t> </a:t>
            </a:r>
            <a:r>
              <a:rPr sz="1250" spc="75" dirty="0"/>
              <a:t>yang</a:t>
            </a:r>
            <a:r>
              <a:rPr sz="1250" spc="45" dirty="0"/>
              <a:t> </a:t>
            </a:r>
            <a:r>
              <a:rPr sz="1250" dirty="0"/>
              <a:t>diperoleh</a:t>
            </a:r>
            <a:r>
              <a:rPr sz="1250" spc="50" dirty="0"/>
              <a:t> </a:t>
            </a:r>
            <a:r>
              <a:rPr sz="1250" dirty="0"/>
              <a:t>oleh</a:t>
            </a:r>
            <a:r>
              <a:rPr sz="1250" spc="45" dirty="0"/>
              <a:t> </a:t>
            </a:r>
            <a:r>
              <a:rPr sz="1250" dirty="0"/>
              <a:t>Google</a:t>
            </a:r>
            <a:r>
              <a:rPr sz="1250" spc="45" dirty="0"/>
              <a:t> </a:t>
            </a:r>
            <a:r>
              <a:rPr sz="1250" spc="110" dirty="0"/>
              <a:t>pada</a:t>
            </a:r>
            <a:r>
              <a:rPr sz="1250" spc="45" dirty="0"/>
              <a:t> </a:t>
            </a:r>
            <a:r>
              <a:rPr sz="1250" spc="-10" dirty="0"/>
              <a:t>tahun </a:t>
            </a:r>
            <a:r>
              <a:rPr sz="1250" spc="-65" dirty="0"/>
              <a:t>2020.</a:t>
            </a:r>
            <a:r>
              <a:rPr sz="1250" spc="150" dirty="0"/>
              <a:t> </a:t>
            </a:r>
            <a:r>
              <a:rPr sz="1250" spc="-10" dirty="0"/>
              <a:t>Looker</a:t>
            </a:r>
            <a:r>
              <a:rPr sz="1250" spc="155" dirty="0"/>
              <a:t> </a:t>
            </a:r>
            <a:r>
              <a:rPr sz="1250" dirty="0"/>
              <a:t>memungkinkan</a:t>
            </a:r>
            <a:r>
              <a:rPr sz="1250" spc="150" dirty="0"/>
              <a:t> </a:t>
            </a:r>
            <a:r>
              <a:rPr sz="1250" spc="65" dirty="0"/>
              <a:t>pengguna</a:t>
            </a:r>
            <a:r>
              <a:rPr sz="1250" spc="155" dirty="0"/>
              <a:t> </a:t>
            </a:r>
            <a:r>
              <a:rPr sz="1250" dirty="0"/>
              <a:t>untuk</a:t>
            </a:r>
            <a:r>
              <a:rPr sz="1250" spc="150" dirty="0"/>
              <a:t> </a:t>
            </a:r>
            <a:r>
              <a:rPr sz="1250" dirty="0"/>
              <a:t>menjelajahi,</a:t>
            </a:r>
            <a:r>
              <a:rPr sz="1250" spc="155" dirty="0"/>
              <a:t> </a:t>
            </a:r>
            <a:r>
              <a:rPr sz="1250" dirty="0"/>
              <a:t>menganalisis,</a:t>
            </a:r>
            <a:r>
              <a:rPr sz="1250" spc="150" dirty="0"/>
              <a:t> </a:t>
            </a:r>
            <a:r>
              <a:rPr sz="1250" spc="80" dirty="0"/>
              <a:t>dan</a:t>
            </a:r>
            <a:r>
              <a:rPr sz="1250" spc="155" dirty="0"/>
              <a:t> </a:t>
            </a:r>
            <a:r>
              <a:rPr sz="1250" dirty="0"/>
              <a:t>memvisualisasikan</a:t>
            </a:r>
            <a:r>
              <a:rPr sz="1250" spc="150" dirty="0"/>
              <a:t> </a:t>
            </a:r>
            <a:r>
              <a:rPr sz="1250" spc="50" dirty="0"/>
              <a:t>data </a:t>
            </a:r>
            <a:r>
              <a:rPr sz="1250" dirty="0"/>
              <a:t>dari </a:t>
            </a:r>
            <a:r>
              <a:rPr sz="1250" spc="55" dirty="0"/>
              <a:t>berbagai</a:t>
            </a:r>
            <a:r>
              <a:rPr sz="1250" spc="5" dirty="0"/>
              <a:t> </a:t>
            </a:r>
            <a:r>
              <a:rPr sz="1250" dirty="0"/>
              <a:t>sumber</a:t>
            </a:r>
            <a:r>
              <a:rPr sz="1250" spc="5" dirty="0"/>
              <a:t> </a:t>
            </a:r>
            <a:r>
              <a:rPr sz="1250" spc="65" dirty="0"/>
              <a:t>dengan</a:t>
            </a:r>
            <a:r>
              <a:rPr sz="1250" spc="5" dirty="0"/>
              <a:t> </a:t>
            </a:r>
            <a:r>
              <a:rPr sz="1250" spc="100" dirty="0"/>
              <a:t>cara</a:t>
            </a:r>
            <a:r>
              <a:rPr sz="1250" spc="5" dirty="0"/>
              <a:t> </a:t>
            </a:r>
            <a:r>
              <a:rPr sz="1250" spc="75" dirty="0"/>
              <a:t>yang</a:t>
            </a:r>
            <a:r>
              <a:rPr sz="1250" dirty="0"/>
              <a:t> </a:t>
            </a:r>
            <a:r>
              <a:rPr sz="1250" spc="-25" dirty="0"/>
              <a:t>intuitif</a:t>
            </a:r>
            <a:r>
              <a:rPr sz="1250" spc="5" dirty="0"/>
              <a:t> </a:t>
            </a:r>
            <a:r>
              <a:rPr sz="1250" spc="80" dirty="0"/>
              <a:t>dan</a:t>
            </a:r>
            <a:r>
              <a:rPr sz="1250" spc="5" dirty="0"/>
              <a:t> </a:t>
            </a:r>
            <a:r>
              <a:rPr sz="1250" spc="-10" dirty="0"/>
              <a:t>interaktif.</a:t>
            </a:r>
            <a:endParaRPr sz="1250"/>
          </a:p>
          <a:p>
            <a:pPr marL="12700" marR="5080">
              <a:lnSpc>
                <a:spcPct val="105800"/>
              </a:lnSpc>
              <a:spcBef>
                <a:spcPts val="1205"/>
              </a:spcBef>
            </a:pPr>
            <a:r>
              <a:rPr sz="1250" spc="-10" dirty="0"/>
              <a:t>Looker</a:t>
            </a:r>
            <a:r>
              <a:rPr sz="1250" spc="25" dirty="0"/>
              <a:t> </a:t>
            </a:r>
            <a:r>
              <a:rPr sz="1250" spc="70" dirty="0"/>
              <a:t>memadukan</a:t>
            </a:r>
            <a:r>
              <a:rPr sz="1250" spc="25" dirty="0"/>
              <a:t> </a:t>
            </a:r>
            <a:r>
              <a:rPr sz="1250" spc="90" dirty="0"/>
              <a:t>data</a:t>
            </a:r>
            <a:r>
              <a:rPr sz="1250" spc="30" dirty="0"/>
              <a:t> </a:t>
            </a:r>
            <a:r>
              <a:rPr sz="1250" dirty="0"/>
              <a:t>dari</a:t>
            </a:r>
            <a:r>
              <a:rPr sz="1250" spc="25" dirty="0"/>
              <a:t> </a:t>
            </a:r>
            <a:r>
              <a:rPr sz="1250" spc="55" dirty="0"/>
              <a:t>berbagai</a:t>
            </a:r>
            <a:r>
              <a:rPr sz="1250" spc="30" dirty="0"/>
              <a:t> </a:t>
            </a:r>
            <a:r>
              <a:rPr sz="1250" dirty="0"/>
              <a:t>sumber,</a:t>
            </a:r>
            <a:r>
              <a:rPr sz="1250" spc="25" dirty="0"/>
              <a:t> </a:t>
            </a:r>
            <a:r>
              <a:rPr sz="1250" dirty="0"/>
              <a:t>termasuk</a:t>
            </a:r>
            <a:r>
              <a:rPr sz="1250" spc="25" dirty="0"/>
              <a:t> </a:t>
            </a:r>
            <a:r>
              <a:rPr sz="1250" spc="90" dirty="0"/>
              <a:t>data</a:t>
            </a:r>
            <a:r>
              <a:rPr sz="1250" spc="30" dirty="0"/>
              <a:t> </a:t>
            </a:r>
            <a:r>
              <a:rPr sz="1250" spc="50" dirty="0"/>
              <a:t>warehouse</a:t>
            </a:r>
            <a:r>
              <a:rPr sz="1250" spc="25" dirty="0"/>
              <a:t> </a:t>
            </a:r>
            <a:r>
              <a:rPr sz="1250" dirty="0"/>
              <a:t>seperti</a:t>
            </a:r>
            <a:r>
              <a:rPr sz="1250" spc="30" dirty="0"/>
              <a:t> </a:t>
            </a:r>
            <a:r>
              <a:rPr sz="1250" dirty="0"/>
              <a:t>Google</a:t>
            </a:r>
            <a:r>
              <a:rPr sz="1250" spc="25" dirty="0"/>
              <a:t> </a:t>
            </a:r>
            <a:r>
              <a:rPr sz="1250" spc="-10" dirty="0"/>
              <a:t>BigQuery, </a:t>
            </a:r>
            <a:r>
              <a:rPr sz="1250" dirty="0"/>
              <a:t>serta</a:t>
            </a:r>
            <a:r>
              <a:rPr sz="1250" spc="20" dirty="0"/>
              <a:t> </a:t>
            </a:r>
            <a:r>
              <a:rPr sz="1250" dirty="0"/>
              <a:t>sumber</a:t>
            </a:r>
            <a:r>
              <a:rPr sz="1250" spc="25" dirty="0"/>
              <a:t> </a:t>
            </a:r>
            <a:r>
              <a:rPr sz="1250" spc="90" dirty="0"/>
              <a:t>data</a:t>
            </a:r>
            <a:r>
              <a:rPr sz="1250" spc="20" dirty="0"/>
              <a:t> </a:t>
            </a:r>
            <a:r>
              <a:rPr sz="1250" dirty="0"/>
              <a:t>lain</a:t>
            </a:r>
            <a:r>
              <a:rPr sz="1250" spc="25" dirty="0"/>
              <a:t> </a:t>
            </a:r>
            <a:r>
              <a:rPr sz="1250" dirty="0"/>
              <a:t>seperti</a:t>
            </a:r>
            <a:r>
              <a:rPr sz="1250" spc="20" dirty="0"/>
              <a:t> </a:t>
            </a:r>
            <a:r>
              <a:rPr sz="1250" dirty="0"/>
              <a:t>basis</a:t>
            </a:r>
            <a:r>
              <a:rPr sz="1250" spc="25" dirty="0"/>
              <a:t> </a:t>
            </a:r>
            <a:r>
              <a:rPr sz="1250" spc="90" dirty="0"/>
              <a:t>data</a:t>
            </a:r>
            <a:r>
              <a:rPr sz="1250" spc="20" dirty="0"/>
              <a:t> </a:t>
            </a:r>
            <a:r>
              <a:rPr sz="1250" spc="-55" dirty="0"/>
              <a:t>SQL,</a:t>
            </a:r>
            <a:r>
              <a:rPr sz="1250" spc="25" dirty="0"/>
              <a:t> </a:t>
            </a:r>
            <a:r>
              <a:rPr sz="1250" spc="65" dirty="0"/>
              <a:t>alat</a:t>
            </a:r>
            <a:r>
              <a:rPr sz="1250" spc="20" dirty="0"/>
              <a:t> </a:t>
            </a:r>
            <a:r>
              <a:rPr sz="1250" dirty="0"/>
              <a:t>cloud,</a:t>
            </a:r>
            <a:r>
              <a:rPr sz="1250" spc="25" dirty="0"/>
              <a:t> </a:t>
            </a:r>
            <a:r>
              <a:rPr sz="1250" spc="75" dirty="0"/>
              <a:t>layanan</a:t>
            </a:r>
            <a:r>
              <a:rPr sz="1250" spc="20" dirty="0"/>
              <a:t> </a:t>
            </a:r>
            <a:r>
              <a:rPr sz="1250" dirty="0"/>
              <a:t>web,</a:t>
            </a:r>
            <a:r>
              <a:rPr sz="1250" spc="25" dirty="0"/>
              <a:t> </a:t>
            </a:r>
            <a:r>
              <a:rPr sz="1250" spc="80" dirty="0"/>
              <a:t>dan</a:t>
            </a:r>
            <a:r>
              <a:rPr sz="1250" spc="20" dirty="0"/>
              <a:t> </a:t>
            </a:r>
            <a:r>
              <a:rPr sz="1250" dirty="0"/>
              <a:t>lainnya.</a:t>
            </a:r>
            <a:r>
              <a:rPr sz="1250" spc="25" dirty="0"/>
              <a:t> </a:t>
            </a:r>
            <a:r>
              <a:rPr sz="1250" spc="-20" dirty="0"/>
              <a:t>Ini</a:t>
            </a:r>
            <a:r>
              <a:rPr sz="1250" spc="20" dirty="0"/>
              <a:t> </a:t>
            </a:r>
            <a:r>
              <a:rPr sz="1250" spc="-10" dirty="0"/>
              <a:t>memungkinkan </a:t>
            </a:r>
            <a:r>
              <a:rPr sz="1250" spc="65" dirty="0"/>
              <a:t>pengguna</a:t>
            </a:r>
            <a:r>
              <a:rPr sz="1250" spc="-10" dirty="0"/>
              <a:t> </a:t>
            </a:r>
            <a:r>
              <a:rPr sz="1250" dirty="0"/>
              <a:t>untuk</a:t>
            </a:r>
            <a:r>
              <a:rPr sz="1250" spc="-5" dirty="0"/>
              <a:t> </a:t>
            </a:r>
            <a:r>
              <a:rPr sz="1250" dirty="0"/>
              <a:t>memiliki</a:t>
            </a:r>
            <a:r>
              <a:rPr sz="1250" spc="-10" dirty="0"/>
              <a:t> </a:t>
            </a:r>
            <a:r>
              <a:rPr sz="1250" spc="80" dirty="0"/>
              <a:t>pandangan</a:t>
            </a:r>
            <a:r>
              <a:rPr sz="1250" spc="-5" dirty="0"/>
              <a:t> </a:t>
            </a:r>
            <a:r>
              <a:rPr sz="1250" spc="-25" dirty="0"/>
              <a:t>holistik</a:t>
            </a:r>
            <a:r>
              <a:rPr sz="1250" spc="-5" dirty="0"/>
              <a:t> </a:t>
            </a:r>
            <a:r>
              <a:rPr sz="1250" spc="80" dirty="0"/>
              <a:t>atas</a:t>
            </a:r>
            <a:r>
              <a:rPr sz="1250" spc="-10" dirty="0"/>
              <a:t> </a:t>
            </a:r>
            <a:r>
              <a:rPr sz="1250" spc="90" dirty="0"/>
              <a:t>data</a:t>
            </a:r>
            <a:r>
              <a:rPr sz="1250" spc="-5" dirty="0"/>
              <a:t> </a:t>
            </a:r>
            <a:r>
              <a:rPr sz="1250" spc="50" dirty="0"/>
              <a:t>mereka</a:t>
            </a:r>
            <a:r>
              <a:rPr sz="1250" spc="-10" dirty="0"/>
              <a:t> </a:t>
            </a:r>
            <a:r>
              <a:rPr sz="1250" spc="80" dirty="0"/>
              <a:t>tanpa</a:t>
            </a:r>
            <a:r>
              <a:rPr sz="1250" spc="-5" dirty="0"/>
              <a:t> </a:t>
            </a:r>
            <a:r>
              <a:rPr sz="1250" dirty="0"/>
              <a:t>perlu</a:t>
            </a:r>
            <a:r>
              <a:rPr sz="1250" spc="-5" dirty="0"/>
              <a:t> </a:t>
            </a:r>
            <a:r>
              <a:rPr sz="1250" dirty="0"/>
              <a:t>mentransfer</a:t>
            </a:r>
            <a:r>
              <a:rPr sz="1250" spc="-10" dirty="0"/>
              <a:t> </a:t>
            </a:r>
            <a:r>
              <a:rPr sz="1250" spc="60" dirty="0"/>
              <a:t>atau menggabungkan</a:t>
            </a:r>
            <a:r>
              <a:rPr sz="1250" spc="-40" dirty="0"/>
              <a:t> </a:t>
            </a:r>
            <a:r>
              <a:rPr sz="1250" spc="90" dirty="0"/>
              <a:t>data</a:t>
            </a:r>
            <a:r>
              <a:rPr sz="1250" spc="-40" dirty="0"/>
              <a:t> </a:t>
            </a:r>
            <a:r>
              <a:rPr sz="1250" spc="80" dirty="0"/>
              <a:t>secara</a:t>
            </a:r>
            <a:r>
              <a:rPr sz="1250" spc="-40" dirty="0"/>
              <a:t> </a:t>
            </a:r>
            <a:r>
              <a:rPr sz="1250" spc="-10" dirty="0"/>
              <a:t>manual.</a:t>
            </a:r>
            <a:endParaRPr sz="1250"/>
          </a:p>
          <a:p>
            <a:pPr marL="12700" marR="50800">
              <a:lnSpc>
                <a:spcPct val="105800"/>
              </a:lnSpc>
              <a:spcBef>
                <a:spcPts val="1200"/>
              </a:spcBef>
            </a:pPr>
            <a:r>
              <a:rPr sz="1250" spc="50" dirty="0"/>
              <a:t>Dengan</a:t>
            </a:r>
            <a:r>
              <a:rPr sz="1250" spc="-45" dirty="0"/>
              <a:t> </a:t>
            </a:r>
            <a:r>
              <a:rPr sz="1250" spc="60" dirty="0"/>
              <a:t>menggunakan</a:t>
            </a:r>
            <a:r>
              <a:rPr sz="1250" spc="-45" dirty="0"/>
              <a:t> </a:t>
            </a:r>
            <a:r>
              <a:rPr sz="1250" spc="-35" dirty="0"/>
              <a:t>Looker,</a:t>
            </a:r>
            <a:r>
              <a:rPr sz="1250" spc="-40" dirty="0"/>
              <a:t> </a:t>
            </a:r>
            <a:r>
              <a:rPr sz="1250" spc="65" dirty="0"/>
              <a:t>pengguna</a:t>
            </a:r>
            <a:r>
              <a:rPr sz="1250" spc="-45" dirty="0"/>
              <a:t> </a:t>
            </a:r>
            <a:r>
              <a:rPr sz="1250" spc="85" dirty="0"/>
              <a:t>dapat</a:t>
            </a:r>
            <a:r>
              <a:rPr sz="1250" spc="-40" dirty="0"/>
              <a:t> </a:t>
            </a:r>
            <a:r>
              <a:rPr sz="1250" spc="80" dirty="0"/>
              <a:t>membuat</a:t>
            </a:r>
            <a:r>
              <a:rPr sz="1250" spc="-45" dirty="0"/>
              <a:t> </a:t>
            </a:r>
            <a:r>
              <a:rPr sz="1250" spc="50" dirty="0"/>
              <a:t>tampilan</a:t>
            </a:r>
            <a:r>
              <a:rPr sz="1250" spc="-45" dirty="0"/>
              <a:t> </a:t>
            </a:r>
            <a:r>
              <a:rPr sz="1250" spc="90" dirty="0"/>
              <a:t>data</a:t>
            </a:r>
            <a:r>
              <a:rPr sz="1250" spc="-40" dirty="0"/>
              <a:t> </a:t>
            </a:r>
            <a:r>
              <a:rPr sz="1250" spc="75" dirty="0"/>
              <a:t>yang</a:t>
            </a:r>
            <a:r>
              <a:rPr sz="1250" spc="-45" dirty="0"/>
              <a:t> </a:t>
            </a:r>
            <a:r>
              <a:rPr sz="1250" spc="75" dirty="0"/>
              <a:t>kaya</a:t>
            </a:r>
            <a:r>
              <a:rPr sz="1250" spc="-40" dirty="0"/>
              <a:t> </a:t>
            </a:r>
            <a:r>
              <a:rPr sz="1250" spc="80" dirty="0"/>
              <a:t>dan</a:t>
            </a:r>
            <a:r>
              <a:rPr sz="1250" spc="-45" dirty="0"/>
              <a:t> </a:t>
            </a:r>
            <a:r>
              <a:rPr sz="1250" spc="-10" dirty="0"/>
              <a:t>interaktif, </a:t>
            </a:r>
            <a:r>
              <a:rPr sz="1250" spc="80" dirty="0"/>
              <a:t>membuat</a:t>
            </a:r>
            <a:r>
              <a:rPr sz="1250" spc="40" dirty="0"/>
              <a:t> </a:t>
            </a:r>
            <a:r>
              <a:rPr sz="1250" spc="50" dirty="0"/>
              <a:t>laporan</a:t>
            </a:r>
            <a:r>
              <a:rPr sz="1250" spc="45" dirty="0"/>
              <a:t> </a:t>
            </a:r>
            <a:r>
              <a:rPr sz="1250" spc="80" dirty="0"/>
              <a:t>dan</a:t>
            </a:r>
            <a:r>
              <a:rPr sz="1250" spc="45" dirty="0"/>
              <a:t> </a:t>
            </a:r>
            <a:r>
              <a:rPr sz="1250" spc="10" dirty="0"/>
              <a:t>dashboard,</a:t>
            </a:r>
            <a:r>
              <a:rPr sz="1250" spc="45" dirty="0"/>
              <a:t> </a:t>
            </a:r>
            <a:r>
              <a:rPr sz="1250" spc="10" dirty="0"/>
              <a:t>serta</a:t>
            </a:r>
            <a:r>
              <a:rPr sz="1250" spc="45" dirty="0"/>
              <a:t> </a:t>
            </a:r>
            <a:r>
              <a:rPr sz="1250" spc="10" dirty="0"/>
              <a:t>melakukan</a:t>
            </a:r>
            <a:r>
              <a:rPr sz="1250" spc="45" dirty="0"/>
              <a:t> </a:t>
            </a:r>
            <a:r>
              <a:rPr sz="1250" spc="10" dirty="0"/>
              <a:t>analisis</a:t>
            </a:r>
            <a:r>
              <a:rPr sz="1250" spc="45" dirty="0"/>
              <a:t> </a:t>
            </a:r>
            <a:r>
              <a:rPr sz="1250" spc="90" dirty="0"/>
              <a:t>data</a:t>
            </a:r>
            <a:r>
              <a:rPr sz="1250" spc="45" dirty="0"/>
              <a:t> </a:t>
            </a:r>
            <a:r>
              <a:rPr sz="1250" spc="75" dirty="0"/>
              <a:t>yang</a:t>
            </a:r>
            <a:r>
              <a:rPr sz="1250" spc="45" dirty="0"/>
              <a:t> </a:t>
            </a:r>
            <a:r>
              <a:rPr sz="1250" spc="55" dirty="0"/>
              <a:t>mendalam.</a:t>
            </a:r>
            <a:r>
              <a:rPr sz="1250" spc="45" dirty="0"/>
              <a:t> </a:t>
            </a:r>
            <a:r>
              <a:rPr sz="1250" spc="10" dirty="0"/>
              <a:t>Platform</a:t>
            </a:r>
            <a:r>
              <a:rPr sz="1250" spc="45" dirty="0"/>
              <a:t> </a:t>
            </a:r>
            <a:r>
              <a:rPr sz="1250" spc="-25" dirty="0"/>
              <a:t>ini </a:t>
            </a:r>
            <a:r>
              <a:rPr sz="1250" spc="55" dirty="0"/>
              <a:t>menyediakan</a:t>
            </a:r>
            <a:r>
              <a:rPr sz="1250" spc="45" dirty="0"/>
              <a:t> </a:t>
            </a:r>
            <a:r>
              <a:rPr sz="1250" spc="55" dirty="0"/>
              <a:t>antarmuka</a:t>
            </a:r>
            <a:r>
              <a:rPr sz="1250" spc="50" dirty="0"/>
              <a:t> </a:t>
            </a:r>
            <a:r>
              <a:rPr sz="1250" spc="75" dirty="0"/>
              <a:t>yang</a:t>
            </a:r>
            <a:r>
              <a:rPr sz="1250" spc="50" dirty="0"/>
              <a:t> </a:t>
            </a:r>
            <a:r>
              <a:rPr sz="1250" spc="-25" dirty="0"/>
              <a:t>intuitif</a:t>
            </a:r>
            <a:r>
              <a:rPr sz="1250" spc="50" dirty="0"/>
              <a:t> </a:t>
            </a:r>
            <a:r>
              <a:rPr sz="1250" spc="80" dirty="0"/>
              <a:t>dan</a:t>
            </a:r>
            <a:r>
              <a:rPr sz="1250" spc="50" dirty="0"/>
              <a:t> </a:t>
            </a:r>
            <a:r>
              <a:rPr sz="1250" dirty="0"/>
              <a:t>mendukung</a:t>
            </a:r>
            <a:r>
              <a:rPr sz="1250" spc="50" dirty="0"/>
              <a:t> </a:t>
            </a:r>
            <a:r>
              <a:rPr sz="1250" spc="95" dirty="0"/>
              <a:t>bahasa</a:t>
            </a:r>
            <a:r>
              <a:rPr sz="1250" spc="50" dirty="0"/>
              <a:t> </a:t>
            </a:r>
            <a:r>
              <a:rPr sz="1250" spc="-10" dirty="0"/>
              <a:t>SQL</a:t>
            </a:r>
            <a:r>
              <a:rPr sz="1250" spc="50" dirty="0"/>
              <a:t> </a:t>
            </a:r>
            <a:r>
              <a:rPr sz="1250" dirty="0"/>
              <a:t>untuk</a:t>
            </a:r>
            <a:r>
              <a:rPr sz="1250" spc="50" dirty="0"/>
              <a:t> </a:t>
            </a:r>
            <a:r>
              <a:rPr sz="1250" dirty="0"/>
              <a:t>menjalankan</a:t>
            </a:r>
            <a:r>
              <a:rPr sz="1250" spc="50" dirty="0"/>
              <a:t> </a:t>
            </a:r>
            <a:r>
              <a:rPr sz="1250" dirty="0"/>
              <a:t>query</a:t>
            </a:r>
            <a:r>
              <a:rPr sz="1250" spc="50" dirty="0"/>
              <a:t> </a:t>
            </a:r>
            <a:r>
              <a:rPr sz="1250" spc="55" dirty="0"/>
              <a:t>yang </a:t>
            </a:r>
            <a:r>
              <a:rPr sz="1250" dirty="0"/>
              <a:t>kompleks.</a:t>
            </a:r>
            <a:r>
              <a:rPr sz="1250" spc="40" dirty="0"/>
              <a:t> </a:t>
            </a:r>
            <a:r>
              <a:rPr sz="1250" dirty="0"/>
              <a:t>Selain</a:t>
            </a:r>
            <a:r>
              <a:rPr sz="1250" spc="45" dirty="0"/>
              <a:t> </a:t>
            </a:r>
            <a:r>
              <a:rPr sz="1250" spc="-45" dirty="0"/>
              <a:t>itu,</a:t>
            </a:r>
            <a:r>
              <a:rPr sz="1250" spc="40" dirty="0"/>
              <a:t> </a:t>
            </a:r>
            <a:r>
              <a:rPr sz="1250" spc="-10" dirty="0"/>
              <a:t>Looker</a:t>
            </a:r>
            <a:r>
              <a:rPr sz="1250" spc="45" dirty="0"/>
              <a:t> </a:t>
            </a:r>
            <a:r>
              <a:rPr sz="1250" spc="50" dirty="0"/>
              <a:t>juga</a:t>
            </a:r>
            <a:r>
              <a:rPr sz="1250" spc="40" dirty="0"/>
              <a:t> </a:t>
            </a:r>
            <a:r>
              <a:rPr sz="1250" dirty="0"/>
              <a:t>memiliki</a:t>
            </a:r>
            <a:r>
              <a:rPr sz="1250" spc="45" dirty="0"/>
              <a:t> </a:t>
            </a:r>
            <a:r>
              <a:rPr sz="1250" spc="-35" dirty="0"/>
              <a:t>fitur-</a:t>
            </a:r>
            <a:r>
              <a:rPr sz="1250" spc="-25" dirty="0"/>
              <a:t>fitur</a:t>
            </a:r>
            <a:r>
              <a:rPr sz="1250" spc="40" dirty="0"/>
              <a:t> </a:t>
            </a:r>
            <a:r>
              <a:rPr sz="1250" dirty="0"/>
              <a:t>seperti</a:t>
            </a:r>
            <a:r>
              <a:rPr sz="1250" spc="45" dirty="0"/>
              <a:t> </a:t>
            </a:r>
            <a:r>
              <a:rPr sz="1250" spc="60" dirty="0"/>
              <a:t>penjadwalan</a:t>
            </a:r>
            <a:r>
              <a:rPr sz="1250" spc="40" dirty="0"/>
              <a:t> </a:t>
            </a:r>
            <a:r>
              <a:rPr sz="1250" dirty="0"/>
              <a:t>tugas,</a:t>
            </a:r>
            <a:r>
              <a:rPr sz="1250" spc="45" dirty="0"/>
              <a:t> </a:t>
            </a:r>
            <a:r>
              <a:rPr sz="1250" dirty="0"/>
              <a:t>pemberitahuan,</a:t>
            </a:r>
            <a:r>
              <a:rPr sz="1250" spc="40" dirty="0"/>
              <a:t> </a:t>
            </a:r>
            <a:r>
              <a:rPr sz="1250" spc="55" dirty="0"/>
              <a:t>dan </a:t>
            </a:r>
            <a:r>
              <a:rPr sz="1250" dirty="0"/>
              <a:t>kolaborasi</a:t>
            </a:r>
            <a:r>
              <a:rPr sz="1250" spc="95" dirty="0"/>
              <a:t> </a:t>
            </a:r>
            <a:r>
              <a:rPr sz="1250" spc="75" dirty="0"/>
              <a:t>yang</a:t>
            </a:r>
            <a:r>
              <a:rPr sz="1250" spc="95" dirty="0"/>
              <a:t> </a:t>
            </a:r>
            <a:r>
              <a:rPr sz="1250" spc="70" dirty="0"/>
              <a:t>memudahkan</a:t>
            </a:r>
            <a:r>
              <a:rPr sz="1250" spc="100" dirty="0"/>
              <a:t> </a:t>
            </a:r>
            <a:r>
              <a:rPr sz="1250" spc="65" dirty="0"/>
              <a:t>pengguna</a:t>
            </a:r>
            <a:r>
              <a:rPr sz="1250" spc="95" dirty="0"/>
              <a:t> </a:t>
            </a:r>
            <a:r>
              <a:rPr sz="1250" dirty="0"/>
              <a:t>untuk</a:t>
            </a:r>
            <a:r>
              <a:rPr sz="1250" spc="95" dirty="0"/>
              <a:t> </a:t>
            </a:r>
            <a:r>
              <a:rPr sz="1250" dirty="0"/>
              <a:t>berbagi</a:t>
            </a:r>
            <a:r>
              <a:rPr sz="1250" spc="100" dirty="0"/>
              <a:t> </a:t>
            </a:r>
            <a:r>
              <a:rPr sz="1250" spc="80" dirty="0"/>
              <a:t>dan</a:t>
            </a:r>
            <a:r>
              <a:rPr sz="1250" spc="95" dirty="0"/>
              <a:t> </a:t>
            </a:r>
            <a:r>
              <a:rPr sz="1250" dirty="0"/>
              <a:t>berkolaborasi</a:t>
            </a:r>
            <a:r>
              <a:rPr sz="1250" spc="100" dirty="0"/>
              <a:t> </a:t>
            </a:r>
            <a:r>
              <a:rPr sz="1250" spc="85" dirty="0"/>
              <a:t>dalam</a:t>
            </a:r>
            <a:r>
              <a:rPr sz="1250" spc="95" dirty="0"/>
              <a:t> </a:t>
            </a:r>
            <a:r>
              <a:rPr sz="1250" dirty="0"/>
              <a:t>menganalisis</a:t>
            </a:r>
            <a:r>
              <a:rPr sz="1250" spc="95" dirty="0"/>
              <a:t> </a:t>
            </a:r>
            <a:r>
              <a:rPr sz="1250" spc="-10" dirty="0"/>
              <a:t>data.</a:t>
            </a:r>
            <a:endParaRPr sz="12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224" y="381276"/>
            <a:ext cx="1748274" cy="7494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925" y="266261"/>
            <a:ext cx="223075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Google</a:t>
            </a:r>
            <a:r>
              <a:rPr spc="-270" dirty="0"/>
              <a:t> </a:t>
            </a:r>
            <a:r>
              <a:rPr spc="-10" dirty="0"/>
              <a:t>Colab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681" y="1084771"/>
            <a:ext cx="8595360" cy="3425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13030">
              <a:lnSpc>
                <a:spcPct val="119400"/>
              </a:lnSpc>
              <a:spcBef>
                <a:spcPts val="90"/>
              </a:spcBef>
            </a:pP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Colab,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singkatan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Colaboratory,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platform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pengembangan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berbasis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cloud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disediakan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oleh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Google.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Notebook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Colab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memungkinkan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pengguna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menulis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menjalankan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kode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Python,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serta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melakukan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eksperimen,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analisis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data,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pelatihan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model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machine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learning.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Beberapa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fitur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utama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Colab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meliputi:</a:t>
            </a:r>
            <a:endParaRPr sz="1050">
              <a:latin typeface="Lucida Sans Unicode"/>
              <a:cs typeface="Lucida Sans Unicode"/>
            </a:endParaRPr>
          </a:p>
          <a:p>
            <a:pPr marL="469900" marR="339090" indent="-320040">
              <a:lnSpc>
                <a:spcPct val="119400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sz="1050" dirty="0">
                <a:solidFill>
                  <a:srgbClr val="212121"/>
                </a:solidFill>
                <a:latin typeface="Arial Black"/>
                <a:cs typeface="Arial Black"/>
              </a:rPr>
              <a:t>Lingkungan</a:t>
            </a:r>
            <a:r>
              <a:rPr sz="1050" spc="-8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-25" dirty="0">
                <a:solidFill>
                  <a:srgbClr val="212121"/>
                </a:solidFill>
                <a:latin typeface="Arial Black"/>
                <a:cs typeface="Arial Black"/>
              </a:rPr>
              <a:t>Berbasis</a:t>
            </a:r>
            <a:r>
              <a:rPr sz="1050" spc="-8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212121"/>
                </a:solidFill>
                <a:latin typeface="Arial Black"/>
                <a:cs typeface="Arial Black"/>
              </a:rPr>
              <a:t>Cloud:</a:t>
            </a:r>
            <a:r>
              <a:rPr sz="105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Colab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berjalan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di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cloud,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sehingga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pengguna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tidak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perlu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menginstal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atau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mengkonfigurasi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perangkat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lunak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di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komputer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mereka.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Semua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komputasi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penyimpanan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dilakukan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di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server Google.</a:t>
            </a:r>
            <a:endParaRPr sz="1050">
              <a:latin typeface="Lucida Sans Unicode"/>
              <a:cs typeface="Lucida Sans Unicode"/>
            </a:endParaRPr>
          </a:p>
          <a:p>
            <a:pPr marL="469900" marR="38735" indent="-346710">
              <a:lnSpc>
                <a:spcPct val="119400"/>
              </a:lnSpc>
              <a:buAutoNum type="arabicPeriod"/>
              <a:tabLst>
                <a:tab pos="469900" algn="l"/>
              </a:tabLst>
            </a:pPr>
            <a:r>
              <a:rPr sz="1050" dirty="0">
                <a:solidFill>
                  <a:srgbClr val="212121"/>
                </a:solidFill>
                <a:latin typeface="Arial Black"/>
                <a:cs typeface="Arial Black"/>
              </a:rPr>
              <a:t>Jupyter</a:t>
            </a:r>
            <a:r>
              <a:rPr sz="105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-25" dirty="0">
                <a:solidFill>
                  <a:srgbClr val="212121"/>
                </a:solidFill>
                <a:latin typeface="Arial Black"/>
                <a:cs typeface="Arial Black"/>
              </a:rPr>
              <a:t>Notebook:</a:t>
            </a:r>
            <a:r>
              <a:rPr sz="105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Colab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menggunakan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format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Jupyter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Notebook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memungkinkan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pengguna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0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menulis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menjalankan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kode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Python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sel-sel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dapat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dijalankan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secara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interaktif.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Ini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memungkinkan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eksperimen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iterasi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cepat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pada</a:t>
            </a:r>
            <a:r>
              <a:rPr sz="105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kode.</a:t>
            </a:r>
            <a:endParaRPr sz="1050">
              <a:latin typeface="Lucida Sans Unicode"/>
              <a:cs typeface="Lucida Sans Unicode"/>
            </a:endParaRPr>
          </a:p>
          <a:p>
            <a:pPr marL="469900" marR="125095" indent="-351790">
              <a:lnSpc>
                <a:spcPct val="119400"/>
              </a:lnSpc>
              <a:buAutoNum type="arabicPeriod"/>
              <a:tabLst>
                <a:tab pos="469900" algn="l"/>
              </a:tabLst>
            </a:pPr>
            <a:r>
              <a:rPr sz="1050" spc="-35" dirty="0">
                <a:solidFill>
                  <a:srgbClr val="212121"/>
                </a:solidFill>
                <a:latin typeface="Arial Black"/>
                <a:cs typeface="Arial Black"/>
              </a:rPr>
              <a:t>Akses</a:t>
            </a:r>
            <a:r>
              <a:rPr sz="1050" spc="-9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-35" dirty="0">
                <a:solidFill>
                  <a:srgbClr val="212121"/>
                </a:solidFill>
                <a:latin typeface="Arial Black"/>
                <a:cs typeface="Arial Black"/>
              </a:rPr>
              <a:t>ke</a:t>
            </a:r>
            <a:r>
              <a:rPr sz="105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-90" dirty="0">
                <a:solidFill>
                  <a:srgbClr val="212121"/>
                </a:solidFill>
                <a:latin typeface="Arial Black"/>
                <a:cs typeface="Arial Black"/>
              </a:rPr>
              <a:t>GPU</a:t>
            </a:r>
            <a:r>
              <a:rPr sz="105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212121"/>
                </a:solidFill>
                <a:latin typeface="Arial Black"/>
                <a:cs typeface="Arial Black"/>
              </a:rPr>
              <a:t>dan</a:t>
            </a:r>
            <a:r>
              <a:rPr sz="1050" spc="-8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-90" dirty="0">
                <a:solidFill>
                  <a:srgbClr val="212121"/>
                </a:solidFill>
                <a:latin typeface="Arial Black"/>
                <a:cs typeface="Arial Black"/>
              </a:rPr>
              <a:t>TPU:</a:t>
            </a:r>
            <a:r>
              <a:rPr sz="1050" spc="-2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Colab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menyediakan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akses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ke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unit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pemrosesan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grafis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(GPU)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unit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pemrosesan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tensor </a:t>
            </a:r>
            <a:r>
              <a:rPr sz="10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(TPU)</a:t>
            </a:r>
            <a:r>
              <a:rPr sz="10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secara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gratis.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Ini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sangat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bermanfaat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melatih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model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machine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learning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membutuhkan 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kecepatan</a:t>
            </a:r>
            <a:r>
              <a:rPr sz="10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pemrosesan</a:t>
            </a:r>
            <a:r>
              <a:rPr sz="10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05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tinggi.</a:t>
            </a:r>
            <a:endParaRPr sz="1050">
              <a:latin typeface="Lucida Sans Unicode"/>
              <a:cs typeface="Lucida Sans Unicode"/>
            </a:endParaRPr>
          </a:p>
          <a:p>
            <a:pPr marL="469900" marR="5080" indent="-361950">
              <a:lnSpc>
                <a:spcPct val="119400"/>
              </a:lnSpc>
              <a:buAutoNum type="arabicPeriod"/>
              <a:tabLst>
                <a:tab pos="469900" algn="l"/>
              </a:tabLst>
            </a:pPr>
            <a:r>
              <a:rPr sz="1050" spc="-20" dirty="0">
                <a:solidFill>
                  <a:srgbClr val="212121"/>
                </a:solidFill>
                <a:latin typeface="Arial Black"/>
                <a:cs typeface="Arial Black"/>
              </a:rPr>
              <a:t>Integrasi</a:t>
            </a:r>
            <a:r>
              <a:rPr sz="1050" spc="-5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212121"/>
                </a:solidFill>
                <a:latin typeface="Arial Black"/>
                <a:cs typeface="Arial Black"/>
              </a:rPr>
              <a:t>dengan</a:t>
            </a:r>
            <a:r>
              <a:rPr sz="1050" spc="-5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212121"/>
                </a:solidFill>
                <a:latin typeface="Arial Black"/>
                <a:cs typeface="Arial Black"/>
              </a:rPr>
              <a:t>Layanan</a:t>
            </a:r>
            <a:r>
              <a:rPr sz="1050" spc="-5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-25" dirty="0">
                <a:solidFill>
                  <a:srgbClr val="212121"/>
                </a:solidFill>
                <a:latin typeface="Arial Black"/>
                <a:cs typeface="Arial Black"/>
              </a:rPr>
              <a:t>Google:</a:t>
            </a:r>
            <a:r>
              <a:rPr sz="1050" spc="-6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Colab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terintegrasi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dengan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berbagai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layanan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seperti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Drive,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Sheets,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Google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Cloud Storage.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Ini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memudahkan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pengguna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untuk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mengimpor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mengekspor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serta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berbagi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kode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dengan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mudah.</a:t>
            </a:r>
            <a:endParaRPr sz="1050">
              <a:latin typeface="Lucida Sans Unicode"/>
              <a:cs typeface="Lucida Sans Unicode"/>
            </a:endParaRPr>
          </a:p>
          <a:p>
            <a:pPr marL="469900" marR="170815" indent="-358140">
              <a:lnSpc>
                <a:spcPct val="119400"/>
              </a:lnSpc>
              <a:buAutoNum type="arabicPeriod"/>
              <a:tabLst>
                <a:tab pos="469900" algn="l"/>
              </a:tabLst>
            </a:pPr>
            <a:r>
              <a:rPr sz="1050" spc="-10" dirty="0">
                <a:solidFill>
                  <a:srgbClr val="212121"/>
                </a:solidFill>
                <a:latin typeface="Arial Black"/>
                <a:cs typeface="Arial Black"/>
              </a:rPr>
              <a:t>Berbagi</a:t>
            </a:r>
            <a:r>
              <a:rPr sz="1050" spc="-7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dirty="0">
                <a:solidFill>
                  <a:srgbClr val="212121"/>
                </a:solidFill>
                <a:latin typeface="Arial Black"/>
                <a:cs typeface="Arial Black"/>
              </a:rPr>
              <a:t>dan</a:t>
            </a:r>
            <a:r>
              <a:rPr sz="1050" spc="-6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-20" dirty="0">
                <a:solidFill>
                  <a:srgbClr val="212121"/>
                </a:solidFill>
                <a:latin typeface="Arial Black"/>
                <a:cs typeface="Arial Black"/>
              </a:rPr>
              <a:t>Kolaborasi:</a:t>
            </a:r>
            <a:r>
              <a:rPr sz="1050" spc="-7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Colab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memungkinkan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pengguna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05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berbagi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notebook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mereka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dengan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orang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lain</a:t>
            </a:r>
            <a:r>
              <a:rPr sz="105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dan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berkolaborasi.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Hal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212121"/>
                </a:solidFill>
                <a:latin typeface="Lucida Sans Unicode"/>
                <a:cs typeface="Lucida Sans Unicode"/>
              </a:rPr>
              <a:t>ini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memudahkan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tim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bekerja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bersama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pengembangan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proyek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atau</a:t>
            </a:r>
            <a:r>
              <a:rPr sz="105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analisis</a:t>
            </a:r>
            <a:r>
              <a:rPr sz="10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data.</a:t>
            </a:r>
            <a:endParaRPr sz="10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0175" y="95925"/>
            <a:ext cx="1855749" cy="7938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608325"/>
            <a:ext cx="163322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Database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113664" algn="just">
              <a:lnSpc>
                <a:spcPts val="1240"/>
              </a:lnSpc>
              <a:spcBef>
                <a:spcPts val="254"/>
              </a:spcBef>
            </a:pPr>
            <a:r>
              <a:rPr sz="1150" dirty="0">
                <a:solidFill>
                  <a:srgbClr val="222222"/>
                </a:solidFill>
              </a:rPr>
              <a:t>Basis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75" dirty="0">
                <a:solidFill>
                  <a:srgbClr val="222222"/>
                </a:solidFill>
              </a:rPr>
              <a:t>data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spc="65" dirty="0">
                <a:solidFill>
                  <a:srgbClr val="222222"/>
                </a:solidFill>
              </a:rPr>
              <a:t>yang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juga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dikenal</a:t>
            </a:r>
            <a:r>
              <a:rPr sz="1150" spc="60" dirty="0">
                <a:solidFill>
                  <a:srgbClr val="222222"/>
                </a:solidFill>
              </a:rPr>
              <a:t> sebagai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database,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spc="-20" dirty="0">
                <a:solidFill>
                  <a:srgbClr val="222222"/>
                </a:solidFill>
              </a:rPr>
              <a:t>terdiri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dari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kata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basis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spc="75" dirty="0">
                <a:solidFill>
                  <a:srgbClr val="222222"/>
                </a:solidFill>
              </a:rPr>
              <a:t>data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data.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spc="50" dirty="0">
                <a:solidFill>
                  <a:srgbClr val="222222"/>
                </a:solidFill>
              </a:rPr>
              <a:t>Data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merupakan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spc="75" dirty="0">
                <a:solidFill>
                  <a:srgbClr val="222222"/>
                </a:solidFill>
              </a:rPr>
              <a:t>catatan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45" dirty="0">
                <a:solidFill>
                  <a:srgbClr val="222222"/>
                </a:solidFill>
              </a:rPr>
              <a:t>atas </a:t>
            </a:r>
            <a:r>
              <a:rPr sz="1150" dirty="0">
                <a:solidFill>
                  <a:srgbClr val="222222"/>
                </a:solidFill>
              </a:rPr>
              <a:t>kumpulan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fakta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spc="65" dirty="0">
                <a:solidFill>
                  <a:srgbClr val="222222"/>
                </a:solidFill>
              </a:rPr>
              <a:t>yang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mewakili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suatu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-25" dirty="0">
                <a:solidFill>
                  <a:srgbClr val="222222"/>
                </a:solidFill>
              </a:rPr>
              <a:t>objek.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spc="50" dirty="0">
                <a:solidFill>
                  <a:srgbClr val="222222"/>
                </a:solidFill>
              </a:rPr>
              <a:t>Data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masih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bersifat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spc="55" dirty="0">
                <a:solidFill>
                  <a:srgbClr val="222222"/>
                </a:solidFill>
              </a:rPr>
              <a:t>mentah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65" dirty="0">
                <a:solidFill>
                  <a:srgbClr val="222222"/>
                </a:solidFill>
              </a:rPr>
              <a:t>dan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tidak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mewakili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-30" dirty="0">
                <a:solidFill>
                  <a:srgbClr val="222222"/>
                </a:solidFill>
              </a:rPr>
              <a:t>konteks.</a:t>
            </a:r>
            <a:r>
              <a:rPr sz="1150" spc="20" dirty="0">
                <a:solidFill>
                  <a:srgbClr val="222222"/>
                </a:solidFill>
              </a:rPr>
              <a:t> </a:t>
            </a:r>
            <a:r>
              <a:rPr sz="1150" spc="40" dirty="0">
                <a:solidFill>
                  <a:srgbClr val="222222"/>
                </a:solidFill>
              </a:rPr>
              <a:t>Sedangkan </a:t>
            </a:r>
            <a:r>
              <a:rPr sz="1150" dirty="0">
                <a:solidFill>
                  <a:srgbClr val="222222"/>
                </a:solidFill>
              </a:rPr>
              <a:t>basis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70" dirty="0">
                <a:solidFill>
                  <a:srgbClr val="222222"/>
                </a:solidFill>
              </a:rPr>
              <a:t>atau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60" dirty="0">
                <a:solidFill>
                  <a:srgbClr val="222222"/>
                </a:solidFill>
              </a:rPr>
              <a:t>base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diartikan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60" dirty="0">
                <a:solidFill>
                  <a:srgbClr val="222222"/>
                </a:solidFill>
              </a:rPr>
              <a:t>sebagai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markas,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55" dirty="0">
                <a:solidFill>
                  <a:srgbClr val="222222"/>
                </a:solidFill>
              </a:rPr>
              <a:t>tempat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berkumpul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dari</a:t>
            </a:r>
            <a:r>
              <a:rPr sz="1150" spc="3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suatu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objek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70" dirty="0">
                <a:solidFill>
                  <a:srgbClr val="222222"/>
                </a:solidFill>
              </a:rPr>
              <a:t>atau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representasi</a:t>
            </a:r>
            <a:r>
              <a:rPr sz="1150" spc="25" dirty="0">
                <a:solidFill>
                  <a:srgbClr val="222222"/>
                </a:solidFill>
              </a:rPr>
              <a:t> </a:t>
            </a:r>
            <a:r>
              <a:rPr sz="1150" spc="-10" dirty="0">
                <a:solidFill>
                  <a:srgbClr val="222222"/>
                </a:solidFill>
              </a:rPr>
              <a:t>objek.</a:t>
            </a:r>
            <a:endParaRPr sz="1150"/>
          </a:p>
          <a:p>
            <a:pPr marL="12700" marR="163830" algn="just">
              <a:lnSpc>
                <a:spcPts val="1240"/>
              </a:lnSpc>
              <a:spcBef>
                <a:spcPts val="1205"/>
              </a:spcBef>
            </a:pPr>
            <a:r>
              <a:rPr sz="1150" spc="55" dirty="0">
                <a:solidFill>
                  <a:srgbClr val="222222"/>
                </a:solidFill>
              </a:rPr>
              <a:t>Dalam </a:t>
            </a:r>
            <a:r>
              <a:rPr sz="1150" dirty="0">
                <a:solidFill>
                  <a:srgbClr val="222222"/>
                </a:solidFill>
              </a:rPr>
              <a:t>implementasinya,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-10" dirty="0">
                <a:solidFill>
                  <a:srgbClr val="222222"/>
                </a:solidFill>
              </a:rPr>
              <a:t>untuk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60" dirty="0">
                <a:solidFill>
                  <a:srgbClr val="222222"/>
                </a:solidFill>
              </a:rPr>
              <a:t>memudahkan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75" dirty="0">
                <a:solidFill>
                  <a:srgbClr val="222222"/>
                </a:solidFill>
              </a:rPr>
              <a:t>dalam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mengakses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data,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75" dirty="0">
                <a:solidFill>
                  <a:srgbClr val="222222"/>
                </a:solidFill>
              </a:rPr>
              <a:t>data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disusun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75" dirty="0">
                <a:solidFill>
                  <a:srgbClr val="222222"/>
                </a:solidFill>
              </a:rPr>
              <a:t>dalam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suatu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-20" dirty="0">
                <a:solidFill>
                  <a:srgbClr val="222222"/>
                </a:solidFill>
              </a:rPr>
              <a:t>struktur</a:t>
            </a:r>
            <a:r>
              <a:rPr sz="1150" spc="55" dirty="0">
                <a:solidFill>
                  <a:srgbClr val="222222"/>
                </a:solidFill>
              </a:rPr>
              <a:t> </a:t>
            </a:r>
            <a:r>
              <a:rPr sz="1150" spc="-10" dirty="0">
                <a:solidFill>
                  <a:srgbClr val="222222"/>
                </a:solidFill>
              </a:rPr>
              <a:t>logis </a:t>
            </a:r>
            <a:r>
              <a:rPr sz="1150" spc="65" dirty="0">
                <a:solidFill>
                  <a:srgbClr val="222222"/>
                </a:solidFill>
              </a:rPr>
              <a:t>yang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spc="10" dirty="0">
                <a:solidFill>
                  <a:srgbClr val="222222"/>
                </a:solidFill>
              </a:rPr>
              <a:t>menjelaskan</a:t>
            </a:r>
            <a:r>
              <a:rPr sz="1150" spc="65" dirty="0">
                <a:solidFill>
                  <a:srgbClr val="222222"/>
                </a:solidFill>
              </a:rPr>
              <a:t> </a:t>
            </a:r>
            <a:r>
              <a:rPr sz="1150" spc="-10" dirty="0">
                <a:solidFill>
                  <a:srgbClr val="222222"/>
                </a:solidFill>
              </a:rPr>
              <a:t>bahwa:</a:t>
            </a:r>
            <a:endParaRPr sz="1150"/>
          </a:p>
          <a:p>
            <a:pPr marL="672465" indent="-305435">
              <a:lnSpc>
                <a:spcPts val="1310"/>
              </a:lnSpc>
              <a:spcBef>
                <a:spcPts val="1650"/>
              </a:spcBef>
              <a:buAutoNum type="arabicPeriod"/>
              <a:tabLst>
                <a:tab pos="672465" algn="l"/>
              </a:tabLst>
            </a:pPr>
            <a:r>
              <a:rPr sz="1150" dirty="0">
                <a:solidFill>
                  <a:srgbClr val="444444"/>
                </a:solidFill>
              </a:rPr>
              <a:t>Kumpulan</a:t>
            </a:r>
            <a:r>
              <a:rPr sz="1150" spc="150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tabel</a:t>
            </a:r>
            <a:r>
              <a:rPr sz="1150" spc="155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menyusun</a:t>
            </a:r>
            <a:r>
              <a:rPr sz="1150" spc="150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basis</a:t>
            </a:r>
            <a:r>
              <a:rPr sz="1150" spc="155" dirty="0">
                <a:solidFill>
                  <a:srgbClr val="444444"/>
                </a:solidFill>
              </a:rPr>
              <a:t> </a:t>
            </a:r>
            <a:r>
              <a:rPr sz="1150" spc="55" dirty="0">
                <a:solidFill>
                  <a:srgbClr val="444444"/>
                </a:solidFill>
              </a:rPr>
              <a:t>data</a:t>
            </a:r>
            <a:endParaRPr sz="1150"/>
          </a:p>
          <a:p>
            <a:pPr marL="672465" indent="-374015">
              <a:lnSpc>
                <a:spcPts val="1240"/>
              </a:lnSpc>
              <a:buFont typeface="Verdana"/>
              <a:buAutoNum type="arabicPeriod"/>
              <a:tabLst>
                <a:tab pos="672465" algn="l"/>
              </a:tabLst>
            </a:pPr>
            <a:r>
              <a:rPr sz="1150" dirty="0">
                <a:solidFill>
                  <a:srgbClr val="444444"/>
                </a:solidFill>
              </a:rPr>
              <a:t>Tabel</a:t>
            </a:r>
            <a:r>
              <a:rPr sz="1150" spc="50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tersusun</a:t>
            </a:r>
            <a:r>
              <a:rPr sz="1150" spc="55" dirty="0">
                <a:solidFill>
                  <a:srgbClr val="444444"/>
                </a:solidFill>
              </a:rPr>
              <a:t> </a:t>
            </a:r>
            <a:r>
              <a:rPr sz="1150" spc="65" dirty="0">
                <a:solidFill>
                  <a:srgbClr val="444444"/>
                </a:solidFill>
              </a:rPr>
              <a:t>atas</a:t>
            </a:r>
            <a:r>
              <a:rPr sz="1150" spc="55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sejumlah</a:t>
            </a:r>
            <a:r>
              <a:rPr sz="1150" spc="50" dirty="0">
                <a:solidFill>
                  <a:srgbClr val="444444"/>
                </a:solidFill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Arial Black"/>
                <a:cs typeface="Arial Black"/>
              </a:rPr>
              <a:t>record</a:t>
            </a:r>
            <a:endParaRPr sz="1150">
              <a:latin typeface="Arial Black"/>
              <a:cs typeface="Arial Black"/>
            </a:endParaRPr>
          </a:p>
          <a:p>
            <a:pPr marL="672465" indent="-374015">
              <a:lnSpc>
                <a:spcPts val="1240"/>
              </a:lnSpc>
              <a:buFont typeface="Verdana"/>
              <a:buAutoNum type="arabicPeriod"/>
              <a:tabLst>
                <a:tab pos="672465" algn="l"/>
              </a:tabLst>
            </a:pPr>
            <a:r>
              <a:rPr sz="1150" spc="60" dirty="0">
                <a:solidFill>
                  <a:srgbClr val="444444"/>
                </a:solidFill>
              </a:rPr>
              <a:t>Sebuah</a:t>
            </a:r>
            <a:r>
              <a:rPr sz="1150" spc="20" dirty="0">
                <a:solidFill>
                  <a:srgbClr val="444444"/>
                </a:solidFill>
              </a:rPr>
              <a:t> </a:t>
            </a:r>
            <a:r>
              <a:rPr sz="1150" spc="-40" dirty="0">
                <a:solidFill>
                  <a:srgbClr val="444444"/>
                </a:solidFill>
                <a:latin typeface="Arial Black"/>
                <a:cs typeface="Arial Black"/>
              </a:rPr>
              <a:t>record</a:t>
            </a:r>
            <a:r>
              <a:rPr sz="1150" spc="5" dirty="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sz="1150" spc="55" dirty="0">
                <a:solidFill>
                  <a:srgbClr val="444444"/>
                </a:solidFill>
              </a:rPr>
              <a:t>mengandung</a:t>
            </a:r>
            <a:r>
              <a:rPr sz="1150" spc="20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sejumlah</a:t>
            </a:r>
            <a:r>
              <a:rPr sz="1150" spc="20" dirty="0">
                <a:solidFill>
                  <a:srgbClr val="444444"/>
                </a:solidFill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Arial Black"/>
                <a:cs typeface="Arial Black"/>
              </a:rPr>
              <a:t>field</a:t>
            </a:r>
            <a:endParaRPr sz="1150">
              <a:latin typeface="Arial Black"/>
              <a:cs typeface="Arial Black"/>
            </a:endParaRPr>
          </a:p>
          <a:p>
            <a:pPr marL="672465" indent="-374015">
              <a:lnSpc>
                <a:spcPts val="1310"/>
              </a:lnSpc>
              <a:buFont typeface="Verdana"/>
              <a:buAutoNum type="arabicPeriod"/>
              <a:tabLst>
                <a:tab pos="672465" algn="l"/>
              </a:tabLst>
            </a:pPr>
            <a:r>
              <a:rPr sz="1150" spc="60" dirty="0">
                <a:solidFill>
                  <a:srgbClr val="444444"/>
                </a:solidFill>
              </a:rPr>
              <a:t>Sebuah</a:t>
            </a:r>
            <a:r>
              <a:rPr sz="1150" spc="35" dirty="0">
                <a:solidFill>
                  <a:srgbClr val="444444"/>
                </a:solidFill>
              </a:rPr>
              <a:t> </a:t>
            </a:r>
            <a:r>
              <a:rPr sz="1150" spc="-45" dirty="0">
                <a:solidFill>
                  <a:srgbClr val="444444"/>
                </a:solidFill>
                <a:latin typeface="Arial Black"/>
                <a:cs typeface="Arial Black"/>
              </a:rPr>
              <a:t>field</a:t>
            </a:r>
            <a:r>
              <a:rPr sz="1150" spc="25" dirty="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sz="1150" dirty="0">
                <a:solidFill>
                  <a:srgbClr val="444444"/>
                </a:solidFill>
              </a:rPr>
              <a:t>disimpan</a:t>
            </a:r>
            <a:r>
              <a:rPr sz="1150" spc="35" dirty="0">
                <a:solidFill>
                  <a:srgbClr val="444444"/>
                </a:solidFill>
              </a:rPr>
              <a:t> </a:t>
            </a:r>
            <a:r>
              <a:rPr sz="1150" spc="75" dirty="0">
                <a:solidFill>
                  <a:srgbClr val="444444"/>
                </a:solidFill>
              </a:rPr>
              <a:t>dalam</a:t>
            </a:r>
            <a:r>
              <a:rPr sz="1150" spc="40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bentuk</a:t>
            </a:r>
            <a:r>
              <a:rPr sz="1150" spc="40" dirty="0">
                <a:solidFill>
                  <a:srgbClr val="444444"/>
                </a:solidFill>
              </a:rPr>
              <a:t> </a:t>
            </a:r>
            <a:r>
              <a:rPr sz="1150" dirty="0">
                <a:solidFill>
                  <a:srgbClr val="444444"/>
                </a:solidFill>
              </a:rPr>
              <a:t>kumpulan</a:t>
            </a:r>
            <a:r>
              <a:rPr sz="1150" spc="35" dirty="0">
                <a:solidFill>
                  <a:srgbClr val="444444"/>
                </a:solidFill>
              </a:rPr>
              <a:t> </a:t>
            </a:r>
            <a:r>
              <a:rPr sz="1150" spc="-20" dirty="0">
                <a:solidFill>
                  <a:srgbClr val="444444"/>
                </a:solidFill>
                <a:latin typeface="Arial Black"/>
                <a:cs typeface="Arial Black"/>
              </a:rPr>
              <a:t>bit</a:t>
            </a:r>
            <a:r>
              <a:rPr sz="1150" spc="-20" dirty="0">
                <a:solidFill>
                  <a:srgbClr val="444444"/>
                </a:solidFill>
              </a:rPr>
              <a:t>.</a:t>
            </a:r>
            <a:endParaRPr sz="1150">
              <a:latin typeface="Arial Black"/>
              <a:cs typeface="Arial Black"/>
            </a:endParaRPr>
          </a:p>
          <a:p>
            <a:pPr marL="12700" algn="just">
              <a:lnSpc>
                <a:spcPct val="100000"/>
              </a:lnSpc>
              <a:spcBef>
                <a:spcPts val="1660"/>
              </a:spcBef>
            </a:pPr>
            <a:r>
              <a:rPr sz="1150" spc="-10" dirty="0">
                <a:solidFill>
                  <a:srgbClr val="222222"/>
                </a:solidFill>
              </a:rPr>
              <a:t>Berikut</a:t>
            </a:r>
            <a:r>
              <a:rPr sz="1150" spc="6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merupakan</a:t>
            </a:r>
            <a:r>
              <a:rPr sz="1150" spc="6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pengertian</a:t>
            </a:r>
            <a:r>
              <a:rPr sz="1150" spc="6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dari</a:t>
            </a:r>
            <a:r>
              <a:rPr sz="1150" spc="6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istilah</a:t>
            </a:r>
            <a:r>
              <a:rPr sz="1150" spc="65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di</a:t>
            </a:r>
            <a:r>
              <a:rPr sz="1150" spc="65" dirty="0">
                <a:solidFill>
                  <a:srgbClr val="222222"/>
                </a:solidFill>
              </a:rPr>
              <a:t> </a:t>
            </a:r>
            <a:r>
              <a:rPr sz="1150" spc="-10" dirty="0">
                <a:solidFill>
                  <a:srgbClr val="222222"/>
                </a:solidFill>
              </a:rPr>
              <a:t>atas:</a:t>
            </a:r>
            <a:endParaRPr sz="1150"/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/>
          </a:p>
          <a:p>
            <a:pPr marL="673100" marR="249554" lvl="1" indent="-385445">
              <a:lnSpc>
                <a:spcPts val="1240"/>
              </a:lnSpc>
              <a:spcBef>
                <a:spcPts val="5"/>
              </a:spcBef>
              <a:buFont typeface="Verdana"/>
              <a:buAutoNum type="arabicPeriod"/>
              <a:tabLst>
                <a:tab pos="673100" algn="l"/>
              </a:tabLst>
            </a:pPr>
            <a:r>
              <a:rPr sz="1150" spc="-60" dirty="0">
                <a:solidFill>
                  <a:srgbClr val="444444"/>
                </a:solidFill>
                <a:latin typeface="Arial Black"/>
                <a:cs typeface="Arial Black"/>
              </a:rPr>
              <a:t>Field</a:t>
            </a:r>
            <a:r>
              <a:rPr sz="1150" spc="-15" dirty="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sz="1150" spc="60" dirty="0">
                <a:solidFill>
                  <a:srgbClr val="444444"/>
                </a:solidFill>
                <a:latin typeface="Lucida Sans Unicode"/>
                <a:cs typeface="Lucida Sans Unicode"/>
              </a:rPr>
              <a:t>menyatakan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75" dirty="0">
                <a:solidFill>
                  <a:srgbClr val="444444"/>
                </a:solidFill>
                <a:latin typeface="Lucida Sans Unicode"/>
                <a:cs typeface="Lucida Sans Unicode"/>
              </a:rPr>
              <a:t>data</a:t>
            </a:r>
            <a:r>
              <a:rPr sz="1150" spc="1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terkecil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444444"/>
                </a:solidFill>
                <a:latin typeface="Lucida Sans Unicode"/>
                <a:cs typeface="Lucida Sans Unicode"/>
              </a:rPr>
              <a:t>yang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memiliki</a:t>
            </a:r>
            <a:r>
              <a:rPr sz="1150" spc="1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makna.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Istilah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lain</a:t>
            </a:r>
            <a:r>
              <a:rPr sz="1150" spc="1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untuk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field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yaitu</a:t>
            </a:r>
            <a:r>
              <a:rPr sz="1150" spc="1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elemen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data,</a:t>
            </a:r>
            <a:r>
              <a:rPr sz="1150" spc="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kolom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item,</a:t>
            </a:r>
            <a:r>
              <a:rPr sz="1150" spc="-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444444"/>
                </a:solidFill>
                <a:latin typeface="Lucida Sans Unicode"/>
                <a:cs typeface="Lucida Sans Unicode"/>
              </a:rPr>
              <a:t>dan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atribut.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 Contoh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field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 yaitu 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nim,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50" dirty="0">
                <a:solidFill>
                  <a:srgbClr val="444444"/>
                </a:solidFill>
                <a:latin typeface="Lucida Sans Unicode"/>
                <a:cs typeface="Lucida Sans Unicode"/>
              </a:rPr>
              <a:t>nama,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444444"/>
                </a:solidFill>
                <a:latin typeface="Lucida Sans Unicode"/>
                <a:cs typeface="Lucida Sans Unicode"/>
              </a:rPr>
              <a:t>prodi,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 no_hp,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alamat.</a:t>
            </a:r>
            <a:endParaRPr sz="1150">
              <a:latin typeface="Lucida Sans Unicode"/>
              <a:cs typeface="Lucida Sans Unicode"/>
            </a:endParaRPr>
          </a:p>
          <a:p>
            <a:pPr marL="673100" marR="5080" lvl="1" indent="-385445">
              <a:lnSpc>
                <a:spcPts val="1240"/>
              </a:lnSpc>
              <a:buFont typeface="Verdana"/>
              <a:buAutoNum type="arabicPeriod"/>
              <a:tabLst>
                <a:tab pos="673100" algn="l"/>
              </a:tabLst>
            </a:pPr>
            <a:r>
              <a:rPr sz="1150" spc="-55" dirty="0">
                <a:solidFill>
                  <a:srgbClr val="444444"/>
                </a:solidFill>
                <a:latin typeface="Arial Black"/>
                <a:cs typeface="Arial Black"/>
              </a:rPr>
              <a:t>Record</a:t>
            </a:r>
            <a:r>
              <a:rPr sz="1150" spc="15" dirty="0">
                <a:solidFill>
                  <a:srgbClr val="444444"/>
                </a:solidFill>
                <a:latin typeface="Arial Black"/>
                <a:cs typeface="Arial Black"/>
              </a:rPr>
              <a:t> </a:t>
            </a:r>
            <a:r>
              <a:rPr sz="1150" spc="60" dirty="0">
                <a:solidFill>
                  <a:srgbClr val="444444"/>
                </a:solidFill>
                <a:latin typeface="Lucida Sans Unicode"/>
                <a:cs typeface="Lucida Sans Unicode"/>
              </a:rPr>
              <a:t>menyatakan</a:t>
            </a:r>
            <a:r>
              <a:rPr sz="1150" spc="3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sekumpulan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dari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sejumlah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elemen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75" dirty="0">
                <a:solidFill>
                  <a:srgbClr val="444444"/>
                </a:solidFill>
                <a:latin typeface="Lucida Sans Unicode"/>
                <a:cs typeface="Lucida Sans Unicode"/>
              </a:rPr>
              <a:t>data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444444"/>
                </a:solidFill>
                <a:latin typeface="Lucida Sans Unicode"/>
                <a:cs typeface="Lucida Sans Unicode"/>
              </a:rPr>
              <a:t>yang</a:t>
            </a:r>
            <a:r>
              <a:rPr sz="1150" spc="3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saling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terkait.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0" dirty="0">
                <a:solidFill>
                  <a:srgbClr val="444444"/>
                </a:solidFill>
                <a:latin typeface="Lucida Sans Unicode"/>
                <a:cs typeface="Lucida Sans Unicode"/>
              </a:rPr>
              <a:t>sebagai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contoh:</a:t>
            </a:r>
            <a:r>
              <a:rPr sz="1150" spc="3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nim, </a:t>
            </a:r>
            <a:r>
              <a:rPr sz="1150" spc="50" dirty="0">
                <a:solidFill>
                  <a:srgbClr val="444444"/>
                </a:solidFill>
                <a:latin typeface="Lucida Sans Unicode"/>
                <a:cs typeface="Lucida Sans Unicode"/>
              </a:rPr>
              <a:t>nama,</a:t>
            </a:r>
            <a:r>
              <a:rPr sz="1150" spc="-3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prodi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444444"/>
                </a:solidFill>
                <a:latin typeface="Lucida Sans Unicode"/>
                <a:cs typeface="Lucida Sans Unicode"/>
              </a:rPr>
              <a:t>dan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75" dirty="0">
                <a:solidFill>
                  <a:srgbClr val="444444"/>
                </a:solidFill>
                <a:latin typeface="Lucida Sans Unicode"/>
                <a:cs typeface="Lucida Sans Unicode"/>
              </a:rPr>
              <a:t>alamat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dari</a:t>
            </a:r>
            <a:r>
              <a:rPr sz="1150" spc="-1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0" dirty="0">
                <a:solidFill>
                  <a:srgbClr val="444444"/>
                </a:solidFill>
                <a:latin typeface="Lucida Sans Unicode"/>
                <a:cs typeface="Lucida Sans Unicode"/>
              </a:rPr>
              <a:t>mahasiswa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menyusun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50" dirty="0">
                <a:solidFill>
                  <a:srgbClr val="444444"/>
                </a:solidFill>
                <a:latin typeface="Lucida Sans Unicode"/>
                <a:cs typeface="Lucida Sans Unicode"/>
              </a:rPr>
              <a:t>sebuah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record.</a:t>
            </a:r>
            <a:r>
              <a:rPr sz="1150" spc="-1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Istilah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lain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444444"/>
                </a:solidFill>
                <a:latin typeface="Lucida Sans Unicode"/>
                <a:cs typeface="Lucida Sans Unicode"/>
              </a:rPr>
              <a:t>yang</a:t>
            </a:r>
            <a:r>
              <a:rPr sz="1150" spc="-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0" dirty="0">
                <a:solidFill>
                  <a:srgbClr val="444444"/>
                </a:solidFill>
                <a:latin typeface="Lucida Sans Unicode"/>
                <a:cs typeface="Lucida Sans Unicode"/>
              </a:rPr>
              <a:t>menyatakan</a:t>
            </a:r>
            <a:r>
              <a:rPr sz="1150" spc="-1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record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yaitu</a:t>
            </a:r>
            <a:r>
              <a:rPr sz="1150" spc="1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444444"/>
                </a:solidFill>
                <a:latin typeface="Lucida Sans Unicode"/>
                <a:cs typeface="Lucida Sans Unicode"/>
              </a:rPr>
              <a:t>tupel</a:t>
            </a:r>
            <a:r>
              <a:rPr sz="1150" spc="20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444444"/>
                </a:solidFill>
                <a:latin typeface="Lucida Sans Unicode"/>
                <a:cs typeface="Lucida Sans Unicode"/>
              </a:rPr>
              <a:t>dan</a:t>
            </a:r>
            <a:r>
              <a:rPr sz="1150" spc="15" dirty="0">
                <a:solidFill>
                  <a:srgbClr val="444444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444444"/>
                </a:solidFill>
                <a:latin typeface="Lucida Sans Unicode"/>
                <a:cs typeface="Lucida Sans Unicode"/>
              </a:rPr>
              <a:t>baris.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732673"/>
            <a:ext cx="294449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0" dirty="0"/>
              <a:t>Database</a:t>
            </a:r>
            <a:r>
              <a:rPr spc="-240" dirty="0"/>
              <a:t> </a:t>
            </a:r>
            <a:r>
              <a:rPr spc="-5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21313"/>
            <a:ext cx="8107680" cy="277558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4600"/>
              </a:lnSpc>
              <a:spcBef>
                <a:spcPts val="15"/>
              </a:spcBef>
            </a:pP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Sistem</a:t>
            </a:r>
            <a:r>
              <a:rPr sz="14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Basis</a:t>
            </a:r>
            <a:r>
              <a:rPr sz="14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4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atau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-120" dirty="0">
                <a:solidFill>
                  <a:srgbClr val="212121"/>
                </a:solidFill>
                <a:latin typeface="Arial Black"/>
                <a:cs typeface="Arial Black"/>
              </a:rPr>
              <a:t>DBMS</a:t>
            </a:r>
            <a:r>
              <a:rPr sz="1400" spc="-10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212121"/>
                </a:solidFill>
                <a:latin typeface="Arial Black"/>
                <a:cs typeface="Arial Black"/>
              </a:rPr>
              <a:t>(Database</a:t>
            </a:r>
            <a:r>
              <a:rPr sz="1400" spc="-10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212121"/>
                </a:solidFill>
                <a:latin typeface="Arial Black"/>
                <a:cs typeface="Arial Black"/>
              </a:rPr>
              <a:t>Management</a:t>
            </a:r>
            <a:r>
              <a:rPr sz="1400" spc="-10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212121"/>
                </a:solidFill>
                <a:latin typeface="Arial Black"/>
                <a:cs typeface="Arial Black"/>
              </a:rPr>
              <a:t>System)</a:t>
            </a:r>
            <a:r>
              <a:rPr sz="1400" spc="-1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4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software</a:t>
            </a:r>
            <a:r>
              <a:rPr sz="14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atau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perangkat</a:t>
            </a:r>
            <a:r>
              <a:rPr sz="14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lunak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pengolah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Basis</a:t>
            </a:r>
            <a:r>
              <a:rPr sz="14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Data.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Salah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satu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tugas</a:t>
            </a:r>
            <a:r>
              <a:rPr sz="14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penting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DBMS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adalah </a:t>
            </a:r>
            <a:r>
              <a:rPr sz="14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menerjemahkan</a:t>
            </a:r>
            <a:r>
              <a:rPr sz="14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perintah-perintah</a:t>
            </a:r>
            <a:r>
              <a:rPr sz="14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diberikan</a:t>
            </a:r>
            <a:r>
              <a:rPr sz="14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oleh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user</a:t>
            </a:r>
            <a:r>
              <a:rPr sz="14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terkait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pengelolaan</a:t>
            </a:r>
            <a:r>
              <a:rPr sz="14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database.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Perintah-perintah</a:t>
            </a:r>
            <a:r>
              <a:rPr sz="14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tersebut</a:t>
            </a:r>
            <a:r>
              <a:rPr sz="14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disebut</a:t>
            </a:r>
            <a:r>
              <a:rPr sz="14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 dengan </a:t>
            </a:r>
            <a:r>
              <a:rPr sz="140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bahasa</a:t>
            </a:r>
            <a:r>
              <a:rPr sz="14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SQL</a:t>
            </a:r>
            <a:r>
              <a:rPr sz="14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(Structure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Query</a:t>
            </a:r>
            <a:r>
              <a:rPr sz="14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Language).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Tujuan</a:t>
            </a:r>
            <a:r>
              <a:rPr sz="14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dibuatnya</a:t>
            </a:r>
            <a:r>
              <a:rPr sz="14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DBMS</a:t>
            </a:r>
            <a:r>
              <a:rPr sz="14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4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sebagai</a:t>
            </a:r>
            <a:r>
              <a:rPr sz="14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berikut</a:t>
            </a:r>
            <a:r>
              <a:rPr sz="14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:</a:t>
            </a:r>
            <a:endParaRPr sz="1400">
              <a:latin typeface="Lucida Sans Unicode"/>
              <a:cs typeface="Lucida Sans Unicode"/>
            </a:endParaRPr>
          </a:p>
          <a:p>
            <a:pPr marL="469265" indent="-321945">
              <a:lnSpc>
                <a:spcPct val="100000"/>
              </a:lnSpc>
              <a:spcBef>
                <a:spcPts val="1275"/>
              </a:spcBef>
              <a:buAutoNum type="arabicPeriod"/>
              <a:tabLst>
                <a:tab pos="469265" algn="l"/>
              </a:tabLst>
            </a:pP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Agar</a:t>
            </a:r>
            <a:r>
              <a:rPr sz="14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basis</a:t>
            </a:r>
            <a:r>
              <a:rPr sz="14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4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dapat</a:t>
            </a:r>
            <a:r>
              <a:rPr sz="14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digunakan</a:t>
            </a:r>
            <a:r>
              <a:rPr sz="14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secara</a:t>
            </a:r>
            <a:r>
              <a:rPr sz="14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bersama</a:t>
            </a:r>
            <a:endParaRPr sz="1400">
              <a:latin typeface="Lucida Sans Unicode"/>
              <a:cs typeface="Lucida Sans Unicode"/>
            </a:endParaRPr>
          </a:p>
          <a:p>
            <a:pPr marL="469265" indent="-367030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469265" algn="l"/>
              </a:tabLst>
            </a:pP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Agar</a:t>
            </a:r>
            <a:r>
              <a:rPr sz="14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proses</a:t>
            </a:r>
            <a:r>
              <a:rPr sz="14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akses </a:t>
            </a:r>
            <a:r>
              <a:rPr sz="140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4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lebih</a:t>
            </a:r>
            <a:r>
              <a:rPr sz="14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mudah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4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cepat</a:t>
            </a:r>
            <a:endParaRPr sz="1400">
              <a:latin typeface="Lucida Sans Unicode"/>
              <a:cs typeface="Lucida Sans Unicode"/>
            </a:endParaRPr>
          </a:p>
          <a:p>
            <a:pPr marL="469265" indent="-36957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469265" algn="l"/>
              </a:tabLst>
            </a:pPr>
            <a:r>
              <a:rPr sz="14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4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menghemat</a:t>
            </a:r>
            <a:r>
              <a:rPr sz="14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ruang</a:t>
            </a:r>
            <a:r>
              <a:rPr sz="14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penyimpanan</a:t>
            </a:r>
            <a:r>
              <a:rPr sz="14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endParaRPr sz="1400">
              <a:latin typeface="Lucida Sans Unicode"/>
              <a:cs typeface="Lucida Sans Unicode"/>
            </a:endParaRPr>
          </a:p>
          <a:p>
            <a:pPr marL="469265" indent="-377190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469265" algn="l"/>
              </a:tabLst>
            </a:pPr>
            <a:r>
              <a:rPr sz="14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Membantu</a:t>
            </a:r>
            <a:r>
              <a:rPr sz="14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menjaga</a:t>
            </a:r>
            <a:r>
              <a:rPr sz="14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keamanan</a:t>
            </a:r>
            <a:r>
              <a:rPr sz="14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endParaRPr sz="1400">
              <a:latin typeface="Lucida Sans Unicode"/>
              <a:cs typeface="Lucida Sans Unicode"/>
            </a:endParaRPr>
          </a:p>
          <a:p>
            <a:pPr marL="469265" indent="-376555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469265" algn="l"/>
              </a:tabLst>
            </a:pPr>
            <a:r>
              <a:rPr sz="14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Mencegah</a:t>
            </a:r>
            <a:r>
              <a:rPr sz="14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menghilangkan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212121"/>
                </a:solidFill>
                <a:latin typeface="Lucida Sans Unicode"/>
                <a:cs typeface="Lucida Sans Unicode"/>
              </a:rPr>
              <a:t>duplikasi</a:t>
            </a:r>
            <a:r>
              <a:rPr sz="14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inkonsistensi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endParaRPr sz="1400">
              <a:latin typeface="Lucida Sans Unicode"/>
              <a:cs typeface="Lucida Sans Unicode"/>
            </a:endParaRPr>
          </a:p>
          <a:p>
            <a:pPr marL="469265" indent="-377825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469265" algn="l"/>
              </a:tabLst>
            </a:pP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Menangani</a:t>
            </a:r>
            <a:r>
              <a:rPr sz="14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4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4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jumlah</a:t>
            </a:r>
            <a:r>
              <a:rPr sz="14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4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besar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4073"/>
            <a:ext cx="56165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Entity</a:t>
            </a:r>
            <a:r>
              <a:rPr spc="-250" dirty="0"/>
              <a:t> </a:t>
            </a:r>
            <a:r>
              <a:rPr spc="-80" dirty="0"/>
              <a:t>Relationship</a:t>
            </a:r>
            <a:r>
              <a:rPr spc="-250" dirty="0"/>
              <a:t> </a:t>
            </a:r>
            <a:r>
              <a:rPr dirty="0"/>
              <a:t>Diagram</a:t>
            </a:r>
            <a:r>
              <a:rPr spc="-250" dirty="0"/>
              <a:t> </a:t>
            </a:r>
            <a:r>
              <a:rPr spc="-50" dirty="0"/>
              <a:t>(ERD)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50" spc="-50" dirty="0">
                <a:solidFill>
                  <a:srgbClr val="45464B"/>
                </a:solidFill>
              </a:rPr>
              <a:t>ERD</a:t>
            </a:r>
            <a:r>
              <a:rPr sz="1450" spc="-35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(Entity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Relationship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spc="70" dirty="0">
                <a:solidFill>
                  <a:srgbClr val="45464B"/>
                </a:solidFill>
              </a:rPr>
              <a:t>Diagram)</a:t>
            </a:r>
            <a:r>
              <a:rPr sz="1450" spc="-35" dirty="0">
                <a:solidFill>
                  <a:srgbClr val="45464B"/>
                </a:solidFill>
              </a:rPr>
              <a:t> </a:t>
            </a:r>
            <a:r>
              <a:rPr sz="1450" spc="90" dirty="0">
                <a:solidFill>
                  <a:srgbClr val="45464B"/>
                </a:solidFill>
              </a:rPr>
              <a:t>adalah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spc="50" dirty="0">
                <a:solidFill>
                  <a:srgbClr val="45464B"/>
                </a:solidFill>
              </a:rPr>
              <a:t>model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spc="90" dirty="0">
                <a:solidFill>
                  <a:srgbClr val="45464B"/>
                </a:solidFill>
              </a:rPr>
              <a:t>atau</a:t>
            </a:r>
            <a:r>
              <a:rPr sz="1450" spc="-35" dirty="0">
                <a:solidFill>
                  <a:srgbClr val="45464B"/>
                </a:solidFill>
              </a:rPr>
              <a:t> </a:t>
            </a:r>
            <a:r>
              <a:rPr sz="1450" spc="80" dirty="0">
                <a:solidFill>
                  <a:srgbClr val="45464B"/>
                </a:solidFill>
              </a:rPr>
              <a:t>rancangan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spc="-10" dirty="0">
                <a:solidFill>
                  <a:srgbClr val="45464B"/>
                </a:solidFill>
              </a:rPr>
              <a:t>untuk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spc="75" dirty="0">
                <a:solidFill>
                  <a:srgbClr val="45464B"/>
                </a:solidFill>
              </a:rPr>
              <a:t>membuat </a:t>
            </a:r>
            <a:r>
              <a:rPr sz="1450" spc="60" dirty="0">
                <a:solidFill>
                  <a:srgbClr val="45464B"/>
                </a:solidFill>
              </a:rPr>
              <a:t>database,</a:t>
            </a:r>
            <a:r>
              <a:rPr sz="1450" spc="-60" dirty="0">
                <a:solidFill>
                  <a:srgbClr val="45464B"/>
                </a:solidFill>
              </a:rPr>
              <a:t> </a:t>
            </a:r>
            <a:r>
              <a:rPr sz="1450" spc="80" dirty="0">
                <a:solidFill>
                  <a:srgbClr val="45464B"/>
                </a:solidFill>
              </a:rPr>
              <a:t>supaya</a:t>
            </a:r>
            <a:r>
              <a:rPr sz="1450" spc="-55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lebih</a:t>
            </a:r>
            <a:r>
              <a:rPr sz="1450" spc="-55" dirty="0">
                <a:solidFill>
                  <a:srgbClr val="45464B"/>
                </a:solidFill>
              </a:rPr>
              <a:t> </a:t>
            </a:r>
            <a:r>
              <a:rPr sz="1450" spc="85" dirty="0">
                <a:solidFill>
                  <a:srgbClr val="45464B"/>
                </a:solidFill>
              </a:rPr>
              <a:t>mudah</a:t>
            </a:r>
            <a:r>
              <a:rPr sz="1450" spc="-55" dirty="0">
                <a:solidFill>
                  <a:srgbClr val="45464B"/>
                </a:solidFill>
              </a:rPr>
              <a:t> </a:t>
            </a:r>
            <a:r>
              <a:rPr sz="1450" spc="90" dirty="0">
                <a:solidFill>
                  <a:srgbClr val="45464B"/>
                </a:solidFill>
              </a:rPr>
              <a:t>dalam</a:t>
            </a:r>
            <a:r>
              <a:rPr sz="1450" spc="-55" dirty="0">
                <a:solidFill>
                  <a:srgbClr val="45464B"/>
                </a:solidFill>
              </a:rPr>
              <a:t> </a:t>
            </a:r>
            <a:r>
              <a:rPr sz="1450" spc="70" dirty="0">
                <a:solidFill>
                  <a:srgbClr val="45464B"/>
                </a:solidFill>
              </a:rPr>
              <a:t>menggambarkan</a:t>
            </a:r>
            <a:r>
              <a:rPr sz="1450" spc="-55" dirty="0">
                <a:solidFill>
                  <a:srgbClr val="45464B"/>
                </a:solidFill>
              </a:rPr>
              <a:t> </a:t>
            </a:r>
            <a:r>
              <a:rPr sz="1450" spc="95" dirty="0">
                <a:solidFill>
                  <a:srgbClr val="45464B"/>
                </a:solidFill>
              </a:rPr>
              <a:t>data</a:t>
            </a:r>
            <a:r>
              <a:rPr sz="1450" spc="-60" dirty="0">
                <a:solidFill>
                  <a:srgbClr val="45464B"/>
                </a:solidFill>
              </a:rPr>
              <a:t> </a:t>
            </a:r>
            <a:r>
              <a:rPr sz="1450" spc="80" dirty="0">
                <a:solidFill>
                  <a:srgbClr val="45464B"/>
                </a:solidFill>
              </a:rPr>
              <a:t>yang</a:t>
            </a:r>
            <a:r>
              <a:rPr sz="1450" spc="-55" dirty="0">
                <a:solidFill>
                  <a:srgbClr val="45464B"/>
                </a:solidFill>
              </a:rPr>
              <a:t> </a:t>
            </a:r>
            <a:r>
              <a:rPr sz="1450" spc="-10" dirty="0">
                <a:solidFill>
                  <a:srgbClr val="45464B"/>
                </a:solidFill>
              </a:rPr>
              <a:t>memiliki</a:t>
            </a:r>
            <a:r>
              <a:rPr sz="1450" spc="-55" dirty="0">
                <a:solidFill>
                  <a:srgbClr val="45464B"/>
                </a:solidFill>
              </a:rPr>
              <a:t> </a:t>
            </a:r>
            <a:r>
              <a:rPr sz="1450" spc="40" dirty="0">
                <a:solidFill>
                  <a:srgbClr val="45464B"/>
                </a:solidFill>
              </a:rPr>
              <a:t>hubungan </a:t>
            </a:r>
            <a:r>
              <a:rPr sz="1450" spc="90" dirty="0">
                <a:solidFill>
                  <a:srgbClr val="45464B"/>
                </a:solidFill>
              </a:rPr>
              <a:t>atau</a:t>
            </a:r>
            <a:r>
              <a:rPr sz="1450" spc="-15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relasi</a:t>
            </a:r>
            <a:r>
              <a:rPr sz="1450" spc="-15" dirty="0">
                <a:solidFill>
                  <a:srgbClr val="45464B"/>
                </a:solidFill>
              </a:rPr>
              <a:t> </a:t>
            </a:r>
            <a:r>
              <a:rPr sz="1450" spc="90" dirty="0">
                <a:solidFill>
                  <a:srgbClr val="45464B"/>
                </a:solidFill>
              </a:rPr>
              <a:t>dalam</a:t>
            </a:r>
            <a:r>
              <a:rPr sz="1450" spc="-10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bentuk</a:t>
            </a:r>
            <a:r>
              <a:rPr sz="1450" spc="-15" dirty="0">
                <a:solidFill>
                  <a:srgbClr val="45464B"/>
                </a:solidFill>
              </a:rPr>
              <a:t> </a:t>
            </a:r>
            <a:r>
              <a:rPr sz="1450" spc="65" dirty="0">
                <a:solidFill>
                  <a:srgbClr val="45464B"/>
                </a:solidFill>
              </a:rPr>
              <a:t>sebuah</a:t>
            </a:r>
            <a:r>
              <a:rPr sz="1450" spc="-10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desain.</a:t>
            </a:r>
            <a:r>
              <a:rPr sz="1450" spc="-15" dirty="0">
                <a:solidFill>
                  <a:srgbClr val="45464B"/>
                </a:solidFill>
              </a:rPr>
              <a:t> </a:t>
            </a:r>
            <a:r>
              <a:rPr sz="1450" spc="50" dirty="0">
                <a:solidFill>
                  <a:srgbClr val="45464B"/>
                </a:solidFill>
              </a:rPr>
              <a:t>Dengan</a:t>
            </a:r>
            <a:r>
              <a:rPr sz="1450" spc="-10" dirty="0">
                <a:solidFill>
                  <a:srgbClr val="45464B"/>
                </a:solidFill>
              </a:rPr>
              <a:t> </a:t>
            </a:r>
            <a:r>
              <a:rPr sz="1450" spc="105" dirty="0">
                <a:solidFill>
                  <a:srgbClr val="45464B"/>
                </a:solidFill>
              </a:rPr>
              <a:t>adanya</a:t>
            </a:r>
            <a:r>
              <a:rPr sz="1450" spc="-15" dirty="0">
                <a:solidFill>
                  <a:srgbClr val="45464B"/>
                </a:solidFill>
              </a:rPr>
              <a:t> </a:t>
            </a:r>
            <a:r>
              <a:rPr sz="1450" spc="-50" dirty="0">
                <a:solidFill>
                  <a:srgbClr val="45464B"/>
                </a:solidFill>
              </a:rPr>
              <a:t>ER</a:t>
            </a:r>
            <a:r>
              <a:rPr sz="1450" spc="-10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diagram,</a:t>
            </a:r>
            <a:r>
              <a:rPr sz="1450" spc="-15" dirty="0">
                <a:solidFill>
                  <a:srgbClr val="45464B"/>
                </a:solidFill>
              </a:rPr>
              <a:t> </a:t>
            </a:r>
            <a:r>
              <a:rPr sz="1450" spc="95" dirty="0">
                <a:solidFill>
                  <a:srgbClr val="45464B"/>
                </a:solidFill>
              </a:rPr>
              <a:t>maka</a:t>
            </a:r>
            <a:r>
              <a:rPr sz="1450" spc="-10" dirty="0">
                <a:solidFill>
                  <a:srgbClr val="45464B"/>
                </a:solidFill>
              </a:rPr>
              <a:t> sistem </a:t>
            </a:r>
            <a:r>
              <a:rPr sz="1450" spc="90" dirty="0">
                <a:solidFill>
                  <a:srgbClr val="45464B"/>
                </a:solidFill>
              </a:rPr>
              <a:t>database</a:t>
            </a:r>
            <a:r>
              <a:rPr sz="1450" spc="-45" dirty="0">
                <a:solidFill>
                  <a:srgbClr val="45464B"/>
                </a:solidFill>
              </a:rPr>
              <a:t> </a:t>
            </a:r>
            <a:r>
              <a:rPr sz="1450" spc="80" dirty="0">
                <a:solidFill>
                  <a:srgbClr val="45464B"/>
                </a:solidFill>
              </a:rPr>
              <a:t>yang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terbentuk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spc="95" dirty="0">
                <a:solidFill>
                  <a:srgbClr val="45464B"/>
                </a:solidFill>
              </a:rPr>
              <a:t>dapat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spc="55" dirty="0">
                <a:solidFill>
                  <a:srgbClr val="45464B"/>
                </a:solidFill>
              </a:rPr>
              <a:t>digambarkan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spc="75" dirty="0">
                <a:solidFill>
                  <a:srgbClr val="45464B"/>
                </a:solidFill>
              </a:rPr>
              <a:t>dengan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lebih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spc="-20" dirty="0">
                <a:solidFill>
                  <a:srgbClr val="45464B"/>
                </a:solidFill>
              </a:rPr>
              <a:t>terstruktur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spc="85" dirty="0">
                <a:solidFill>
                  <a:srgbClr val="45464B"/>
                </a:solidFill>
              </a:rPr>
              <a:t>dan</a:t>
            </a:r>
            <a:r>
              <a:rPr sz="1450" spc="-45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terlihat</a:t>
            </a:r>
            <a:r>
              <a:rPr sz="1450" spc="-40" dirty="0">
                <a:solidFill>
                  <a:srgbClr val="45464B"/>
                </a:solidFill>
              </a:rPr>
              <a:t> </a:t>
            </a:r>
            <a:r>
              <a:rPr sz="1450" spc="-10" dirty="0">
                <a:solidFill>
                  <a:srgbClr val="45464B"/>
                </a:solidFill>
              </a:rPr>
              <a:t>rapi. </a:t>
            </a:r>
            <a:r>
              <a:rPr sz="1450" spc="-50" dirty="0">
                <a:solidFill>
                  <a:srgbClr val="45464B"/>
                </a:solidFill>
              </a:rPr>
              <a:t>ERD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komponen</a:t>
            </a:r>
            <a:r>
              <a:rPr sz="1450" spc="-25" dirty="0">
                <a:solidFill>
                  <a:srgbClr val="45464B"/>
                </a:solidFill>
              </a:rPr>
              <a:t> </a:t>
            </a:r>
            <a:r>
              <a:rPr sz="1450" spc="90" dirty="0">
                <a:solidFill>
                  <a:srgbClr val="45464B"/>
                </a:solidFill>
              </a:rPr>
              <a:t>utamanya</a:t>
            </a:r>
            <a:r>
              <a:rPr sz="1450" spc="-25" dirty="0">
                <a:solidFill>
                  <a:srgbClr val="45464B"/>
                </a:solidFill>
              </a:rPr>
              <a:t> </a:t>
            </a:r>
            <a:r>
              <a:rPr sz="1450" spc="-10" dirty="0">
                <a:solidFill>
                  <a:srgbClr val="45464B"/>
                </a:solidFill>
              </a:rPr>
              <a:t>terdiri</a:t>
            </a:r>
            <a:r>
              <a:rPr sz="1450" spc="-25" dirty="0">
                <a:solidFill>
                  <a:srgbClr val="45464B"/>
                </a:solidFill>
              </a:rPr>
              <a:t> </a:t>
            </a:r>
            <a:r>
              <a:rPr sz="1450" dirty="0">
                <a:solidFill>
                  <a:srgbClr val="45464B"/>
                </a:solidFill>
              </a:rPr>
              <a:t>dari</a:t>
            </a:r>
            <a:r>
              <a:rPr sz="1450" spc="-30" dirty="0">
                <a:solidFill>
                  <a:srgbClr val="45464B"/>
                </a:solidFill>
              </a:rPr>
              <a:t> </a:t>
            </a:r>
            <a:r>
              <a:rPr sz="1450" spc="-10" dirty="0">
                <a:solidFill>
                  <a:srgbClr val="45464B"/>
                </a:solidFill>
              </a:rPr>
              <a:t>Entitas,</a:t>
            </a:r>
            <a:r>
              <a:rPr sz="1450" spc="-25" dirty="0">
                <a:solidFill>
                  <a:srgbClr val="45464B"/>
                </a:solidFill>
              </a:rPr>
              <a:t> </a:t>
            </a:r>
            <a:r>
              <a:rPr sz="1450" spc="-10" dirty="0">
                <a:solidFill>
                  <a:srgbClr val="45464B"/>
                </a:solidFill>
              </a:rPr>
              <a:t>Atribut</a:t>
            </a:r>
            <a:r>
              <a:rPr sz="1450" spc="-25" dirty="0">
                <a:solidFill>
                  <a:srgbClr val="45464B"/>
                </a:solidFill>
              </a:rPr>
              <a:t> </a:t>
            </a:r>
            <a:r>
              <a:rPr sz="1450" spc="85" dirty="0">
                <a:solidFill>
                  <a:srgbClr val="45464B"/>
                </a:solidFill>
              </a:rPr>
              <a:t>dan</a:t>
            </a:r>
            <a:r>
              <a:rPr sz="1450" spc="-25" dirty="0">
                <a:solidFill>
                  <a:srgbClr val="45464B"/>
                </a:solidFill>
              </a:rPr>
              <a:t> </a:t>
            </a:r>
            <a:r>
              <a:rPr sz="1450" spc="-10" dirty="0">
                <a:solidFill>
                  <a:srgbClr val="45464B"/>
                </a:solidFill>
              </a:rPr>
              <a:t>Relasi.</a:t>
            </a:r>
            <a:endParaRPr sz="14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25" y="2664474"/>
            <a:ext cx="3422699" cy="1675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732673"/>
            <a:ext cx="315976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Jenis-Jenis</a:t>
            </a:r>
            <a:r>
              <a:rPr spc="-220" dirty="0"/>
              <a:t> </a:t>
            </a:r>
            <a:r>
              <a:rPr spc="-90" dirty="0"/>
              <a:t>Entitas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65166"/>
            <a:ext cx="8120380" cy="27539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50" spc="-80" dirty="0">
                <a:solidFill>
                  <a:srgbClr val="212121"/>
                </a:solidFill>
                <a:latin typeface="Arial Black"/>
                <a:cs typeface="Arial Black"/>
              </a:rPr>
              <a:t>Entitas</a:t>
            </a:r>
            <a:r>
              <a:rPr sz="1650" spc="-14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Arial Black"/>
                <a:cs typeface="Arial Black"/>
              </a:rPr>
              <a:t>Lemah</a:t>
            </a:r>
            <a:r>
              <a:rPr sz="1650" spc="-13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50" dirty="0">
                <a:solidFill>
                  <a:srgbClr val="212121"/>
                </a:solidFill>
                <a:latin typeface="Arial Black"/>
                <a:cs typeface="Arial Black"/>
              </a:rPr>
              <a:t>(Weak</a:t>
            </a:r>
            <a:r>
              <a:rPr sz="1650" spc="-13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Arial Black"/>
                <a:cs typeface="Arial Black"/>
              </a:rPr>
              <a:t>Entity)</a:t>
            </a:r>
            <a:endParaRPr sz="1650">
              <a:latin typeface="Arial Black"/>
              <a:cs typeface="Arial Black"/>
            </a:endParaRPr>
          </a:p>
          <a:p>
            <a:pPr marL="12700" marR="279400">
              <a:lnSpc>
                <a:spcPct val="106000"/>
              </a:lnSpc>
              <a:spcBef>
                <a:spcPts val="1200"/>
              </a:spcBef>
            </a:pP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Berisi</a:t>
            </a:r>
            <a:r>
              <a:rPr sz="16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</a:t>
            </a:r>
            <a:r>
              <a:rPr sz="16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6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kemunculannya</a:t>
            </a:r>
            <a:r>
              <a:rPr sz="16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tergantung</a:t>
            </a:r>
            <a:r>
              <a:rPr sz="16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45" dirty="0">
                <a:solidFill>
                  <a:srgbClr val="212121"/>
                </a:solidFill>
                <a:latin typeface="Lucida Sans Unicode"/>
                <a:cs typeface="Lucida Sans Unicode"/>
              </a:rPr>
              <a:t>pada</a:t>
            </a:r>
            <a:r>
              <a:rPr sz="16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eksistensinya</a:t>
            </a:r>
            <a:r>
              <a:rPr sz="165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dalam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sebuah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relasi.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misal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orangtua,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hobby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tergantung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45" dirty="0">
                <a:solidFill>
                  <a:srgbClr val="212121"/>
                </a:solidFill>
                <a:latin typeface="Lucida Sans Unicode"/>
                <a:cs typeface="Lucida Sans Unicode"/>
              </a:rPr>
              <a:t>pada</a:t>
            </a:r>
            <a:r>
              <a:rPr sz="165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Mahasiswa.</a:t>
            </a:r>
            <a:r>
              <a:rPr sz="16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tanggungan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tergantung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45" dirty="0">
                <a:solidFill>
                  <a:srgbClr val="212121"/>
                </a:solidFill>
                <a:latin typeface="Lucida Sans Unicode"/>
                <a:cs typeface="Lucida Sans Unicode"/>
              </a:rPr>
              <a:t>pada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 entitas </a:t>
            </a:r>
            <a:r>
              <a:rPr sz="16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pegawai.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spc="-80" dirty="0">
                <a:solidFill>
                  <a:srgbClr val="212121"/>
                </a:solidFill>
                <a:latin typeface="Arial Black"/>
                <a:cs typeface="Arial Black"/>
              </a:rPr>
              <a:t>Entitas</a:t>
            </a:r>
            <a:r>
              <a:rPr sz="1650" spc="-16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Arial Black"/>
                <a:cs typeface="Arial Black"/>
              </a:rPr>
              <a:t>kuat</a:t>
            </a:r>
            <a:r>
              <a:rPr sz="1650" spc="-15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Arial Black"/>
                <a:cs typeface="Arial Black"/>
              </a:rPr>
              <a:t>(Strong</a:t>
            </a:r>
            <a:r>
              <a:rPr sz="1650" spc="-16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Arial Black"/>
                <a:cs typeface="Arial Black"/>
              </a:rPr>
              <a:t>Entity)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06000"/>
              </a:lnSpc>
              <a:spcBef>
                <a:spcPts val="1195"/>
              </a:spcBef>
            </a:pP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berdiri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sendiri,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keberadaannya</a:t>
            </a:r>
            <a:r>
              <a:rPr sz="1650" spc="-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tidak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tergantung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dengan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 lain.</a:t>
            </a:r>
            <a:r>
              <a:rPr sz="165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contoh:</a:t>
            </a:r>
            <a:r>
              <a:rPr sz="165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mahasiswa,</a:t>
            </a:r>
            <a:r>
              <a:rPr sz="165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pegawai.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710073"/>
            <a:ext cx="318071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Jenis-Jenis</a:t>
            </a:r>
            <a:r>
              <a:rPr spc="-220" dirty="0"/>
              <a:t> </a:t>
            </a:r>
            <a:r>
              <a:rPr spc="-30" dirty="0"/>
              <a:t>Atribut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712" y="1362204"/>
            <a:ext cx="7758430" cy="290766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65"/>
              </a:spcBef>
              <a:buFont typeface="Arial"/>
              <a:buChar char="●"/>
              <a:tabLst>
                <a:tab pos="355600" algn="l"/>
              </a:tabLst>
            </a:pPr>
            <a:r>
              <a:rPr sz="1500" spc="-50" dirty="0">
                <a:solidFill>
                  <a:srgbClr val="212121"/>
                </a:solidFill>
                <a:latin typeface="Arial Black"/>
                <a:cs typeface="Arial Black"/>
              </a:rPr>
              <a:t>Atribut</a:t>
            </a:r>
            <a:r>
              <a:rPr sz="1500" spc="-12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Arial Black"/>
                <a:cs typeface="Arial Black"/>
              </a:rPr>
              <a:t>Key</a:t>
            </a:r>
            <a:endParaRPr sz="1500">
              <a:latin typeface="Arial Black"/>
              <a:cs typeface="Arial Black"/>
            </a:endParaRPr>
          </a:p>
          <a:p>
            <a:pPr marL="355600" marR="143510">
              <a:lnSpc>
                <a:spcPct val="114599"/>
              </a:lnSpc>
            </a:pP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digunakan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membedakan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secara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unik.misal</a:t>
            </a: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Lucida Sans Unicode"/>
                <a:cs typeface="Lucida Sans Unicode"/>
              </a:rPr>
              <a:t>nik,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nim, 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no_peserta.</a:t>
            </a:r>
            <a:endParaRPr sz="150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Font typeface="Arial"/>
              <a:buChar char="●"/>
              <a:tabLst>
                <a:tab pos="355600" algn="l"/>
              </a:tabLst>
            </a:pPr>
            <a:r>
              <a:rPr sz="1500" spc="-50" dirty="0">
                <a:solidFill>
                  <a:srgbClr val="212121"/>
                </a:solidFill>
                <a:latin typeface="Arial Black"/>
                <a:cs typeface="Arial Black"/>
              </a:rPr>
              <a:t>Atribut</a:t>
            </a:r>
            <a:r>
              <a:rPr sz="1500" spc="-12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Arial Black"/>
                <a:cs typeface="Arial Black"/>
              </a:rPr>
              <a:t>Simple</a:t>
            </a:r>
            <a:endParaRPr sz="1500">
              <a:latin typeface="Arial Black"/>
              <a:cs typeface="Arial Black"/>
            </a:endParaRPr>
          </a:p>
          <a:p>
            <a:pPr marL="355600">
              <a:lnSpc>
                <a:spcPct val="100000"/>
              </a:lnSpc>
              <a:spcBef>
                <a:spcPts val="265"/>
              </a:spcBef>
            </a:pP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bernilai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tunggal,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misal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nama,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harga,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status.</a:t>
            </a:r>
            <a:endParaRPr sz="150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Font typeface="Arial"/>
              <a:buChar char="●"/>
              <a:tabLst>
                <a:tab pos="355600" algn="l"/>
              </a:tabLst>
            </a:pPr>
            <a:r>
              <a:rPr sz="1500" spc="-50" dirty="0">
                <a:solidFill>
                  <a:srgbClr val="212121"/>
                </a:solidFill>
                <a:latin typeface="Arial Black"/>
                <a:cs typeface="Arial Black"/>
              </a:rPr>
              <a:t>Atribut</a:t>
            </a:r>
            <a:r>
              <a:rPr sz="1500" spc="-12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Arial Black"/>
                <a:cs typeface="Arial Black"/>
              </a:rPr>
              <a:t>Multivalue</a:t>
            </a:r>
            <a:endParaRPr sz="1500">
              <a:latin typeface="Arial Black"/>
              <a:cs typeface="Arial Black"/>
            </a:endParaRPr>
          </a:p>
          <a:p>
            <a:pPr marL="355600">
              <a:lnSpc>
                <a:spcPct val="100000"/>
              </a:lnSpc>
              <a:spcBef>
                <a:spcPts val="265"/>
              </a:spcBef>
            </a:pP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</a:t>
            </a:r>
            <a:r>
              <a:rPr sz="15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memiliki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sekelompok</a:t>
            </a:r>
            <a:r>
              <a:rPr sz="15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nilai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banyak,</a:t>
            </a:r>
            <a:r>
              <a:rPr sz="15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misal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gelar,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hobby.</a:t>
            </a:r>
            <a:endParaRPr sz="150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"/>
              <a:buChar char="●"/>
              <a:tabLst>
                <a:tab pos="355600" algn="l"/>
              </a:tabLst>
            </a:pPr>
            <a:r>
              <a:rPr sz="1500" spc="-50" dirty="0">
                <a:solidFill>
                  <a:srgbClr val="212121"/>
                </a:solidFill>
                <a:latin typeface="Arial Black"/>
                <a:cs typeface="Arial Black"/>
              </a:rPr>
              <a:t>Atribut</a:t>
            </a:r>
            <a:r>
              <a:rPr sz="1500" spc="-12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Arial Black"/>
                <a:cs typeface="Arial Black"/>
              </a:rPr>
              <a:t>Composite</a:t>
            </a:r>
            <a:endParaRPr sz="1500">
              <a:latin typeface="Arial Black"/>
              <a:cs typeface="Arial Black"/>
            </a:endParaRPr>
          </a:p>
          <a:p>
            <a:pPr marL="355600">
              <a:lnSpc>
                <a:spcPct val="100000"/>
              </a:lnSpc>
              <a:spcBef>
                <a:spcPts val="260"/>
              </a:spcBef>
            </a:pP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</a:t>
            </a:r>
            <a:r>
              <a:rPr sz="1500" spc="-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5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masih</a:t>
            </a:r>
            <a:r>
              <a:rPr sz="15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dapat</a:t>
            </a:r>
            <a:r>
              <a:rPr sz="15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diuraikan</a:t>
            </a:r>
            <a:r>
              <a:rPr sz="15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lagi,</a:t>
            </a:r>
            <a:r>
              <a:rPr sz="1500" spc="-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misal</a:t>
            </a:r>
            <a:r>
              <a:rPr sz="15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alamat,</a:t>
            </a:r>
            <a:r>
              <a:rPr sz="15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korban,</a:t>
            </a:r>
            <a:r>
              <a:rPr sz="15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waktu.</a:t>
            </a:r>
            <a:endParaRPr sz="150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"/>
              <a:buChar char="●"/>
              <a:tabLst>
                <a:tab pos="355600" algn="l"/>
              </a:tabLst>
            </a:pPr>
            <a:r>
              <a:rPr sz="1500" spc="-50" dirty="0">
                <a:solidFill>
                  <a:srgbClr val="212121"/>
                </a:solidFill>
                <a:latin typeface="Arial Black"/>
                <a:cs typeface="Arial Black"/>
              </a:rPr>
              <a:t>Atribut</a:t>
            </a:r>
            <a:r>
              <a:rPr sz="1500" spc="-12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Arial Black"/>
                <a:cs typeface="Arial Black"/>
              </a:rPr>
              <a:t>Derivatif</a:t>
            </a:r>
            <a:endParaRPr sz="1500">
              <a:latin typeface="Arial Black"/>
              <a:cs typeface="Arial Black"/>
            </a:endParaRPr>
          </a:p>
          <a:p>
            <a:pPr marL="355600">
              <a:lnSpc>
                <a:spcPct val="100000"/>
              </a:lnSpc>
              <a:spcBef>
                <a:spcPts val="265"/>
              </a:spcBef>
            </a:pP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dihasilkan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turunan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lain,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misal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umur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tanggal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lahir.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Tahapan</a:t>
            </a:r>
            <a:r>
              <a:rPr spc="-260" dirty="0"/>
              <a:t> </a:t>
            </a:r>
            <a:r>
              <a:rPr dirty="0"/>
              <a:t>Umum</a:t>
            </a:r>
            <a:r>
              <a:rPr spc="-254" dirty="0"/>
              <a:t> </a:t>
            </a:r>
            <a:r>
              <a:rPr spc="-25" dirty="0"/>
              <a:t>Pembuatan</a:t>
            </a:r>
            <a:r>
              <a:rPr spc="-260" dirty="0"/>
              <a:t> </a:t>
            </a:r>
            <a:r>
              <a:rPr spc="-330" dirty="0"/>
              <a:t>ERD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262" y="1843690"/>
            <a:ext cx="7595234" cy="16027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370"/>
              </a:spcBef>
              <a:buFont typeface="Arial MT"/>
              <a:buChar char="●"/>
              <a:tabLst>
                <a:tab pos="356235" algn="l"/>
              </a:tabLst>
            </a:pP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Tahap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475" dirty="0">
                <a:solidFill>
                  <a:srgbClr val="212121"/>
                </a:solidFill>
                <a:latin typeface="Lucida Sans Unicode"/>
                <a:cs typeface="Lucida Sans Unicode"/>
              </a:rPr>
              <a:t>1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260" dirty="0">
                <a:solidFill>
                  <a:srgbClr val="212121"/>
                </a:solidFill>
                <a:latin typeface="Lucida Sans Unicode"/>
                <a:cs typeface="Lucida Sans Unicode"/>
              </a:rPr>
              <a:t>–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Menentukan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</a:t>
            </a:r>
            <a:r>
              <a:rPr sz="15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akan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terlibat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atau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menentukan</a:t>
            </a:r>
            <a:r>
              <a:rPr sz="15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tabel.</a:t>
            </a:r>
            <a:endParaRPr sz="1500">
              <a:latin typeface="Lucida Sans Unicode"/>
              <a:cs typeface="Lucida Sans Unicode"/>
            </a:endParaRPr>
          </a:p>
          <a:p>
            <a:pPr marL="356235" marR="176530" indent="-344170">
              <a:lnSpc>
                <a:spcPct val="114999"/>
              </a:lnSpc>
              <a:buFont typeface="Arial MT"/>
              <a:buChar char="●"/>
              <a:tabLst>
                <a:tab pos="356235" algn="l"/>
              </a:tabLst>
            </a:pP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Tahap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Lucida Sans Unicode"/>
                <a:cs typeface="Lucida Sans Unicode"/>
              </a:rPr>
              <a:t>2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260" dirty="0">
                <a:solidFill>
                  <a:srgbClr val="212121"/>
                </a:solidFill>
                <a:latin typeface="Lucida Sans Unicode"/>
                <a:cs typeface="Lucida Sans Unicode"/>
              </a:rPr>
              <a:t>–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Menentukan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atribut-atribut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key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masing-masing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himpunan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entitas.</a:t>
            </a:r>
            <a:endParaRPr sz="1500">
              <a:latin typeface="Lucida Sans Unicode"/>
              <a:cs typeface="Lucida Sans Unicode"/>
            </a:endParaRPr>
          </a:p>
          <a:p>
            <a:pPr marL="356235" marR="5080" indent="-344170">
              <a:lnSpc>
                <a:spcPct val="114999"/>
              </a:lnSpc>
              <a:buFont typeface="Arial MT"/>
              <a:buChar char="●"/>
              <a:tabLst>
                <a:tab pos="356235" algn="l"/>
              </a:tabLst>
            </a:pP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Tahap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3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260" dirty="0">
                <a:solidFill>
                  <a:srgbClr val="212121"/>
                </a:solidFill>
                <a:latin typeface="Lucida Sans Unicode"/>
                <a:cs typeface="Lucida Sans Unicode"/>
              </a:rPr>
              <a:t>–</a:t>
            </a:r>
            <a:r>
              <a:rPr sz="15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Menetapkan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seluruh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himpunan</a:t>
            </a:r>
            <a:r>
              <a:rPr sz="15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relasi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di</a:t>
            </a:r>
            <a:r>
              <a:rPr sz="15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antara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himpunan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entitas </a:t>
            </a:r>
            <a:r>
              <a:rPr sz="15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5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45" dirty="0">
                <a:solidFill>
                  <a:srgbClr val="212121"/>
                </a:solidFill>
                <a:latin typeface="Lucida Sans Unicode"/>
                <a:cs typeface="Lucida Sans Unicode"/>
              </a:rPr>
              <a:t>ada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beserta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foreign</a:t>
            </a:r>
            <a:r>
              <a:rPr sz="15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key-nya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kardinalitas</a:t>
            </a:r>
            <a:r>
              <a:rPr sz="1500" spc="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relasi.</a:t>
            </a:r>
            <a:endParaRPr sz="1500">
              <a:latin typeface="Lucida Sans Unicode"/>
              <a:cs typeface="Lucida Sans Unicode"/>
            </a:endParaRPr>
          </a:p>
          <a:p>
            <a:pPr marL="35623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56235" algn="l"/>
              </a:tabLst>
            </a:pP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Tahap</a:t>
            </a: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4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260" dirty="0">
                <a:solidFill>
                  <a:srgbClr val="212121"/>
                </a:solidFill>
                <a:latin typeface="Lucida Sans Unicode"/>
                <a:cs typeface="Lucida Sans Unicode"/>
              </a:rPr>
              <a:t>–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Membuat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model</a:t>
            </a:r>
            <a:r>
              <a:rPr sz="1500" spc="-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Entity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Relationship</a:t>
            </a:r>
            <a:r>
              <a:rPr sz="1500" spc="-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Diagram.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spc="-40" dirty="0"/>
              <a:t>Contoh</a:t>
            </a:r>
            <a:r>
              <a:rPr spc="-280" dirty="0"/>
              <a:t> </a:t>
            </a:r>
            <a:r>
              <a:rPr dirty="0"/>
              <a:t>Diagram</a:t>
            </a:r>
            <a:r>
              <a:rPr spc="-275" dirty="0"/>
              <a:t> </a:t>
            </a:r>
            <a:r>
              <a:rPr spc="-330" dirty="0"/>
              <a:t>ERD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1948" y="1143650"/>
            <a:ext cx="4460097" cy="3099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5" dirty="0"/>
              <a:t>Normalisasi</a:t>
            </a:r>
            <a:r>
              <a:rPr spc="-235" dirty="0"/>
              <a:t> </a:t>
            </a:r>
            <a:r>
              <a:rPr spc="-20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11300"/>
            <a:ext cx="8274684" cy="24879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1739"/>
              </a:lnSpc>
              <a:spcBef>
                <a:spcPts val="235"/>
              </a:spcBef>
            </a:pP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Normalisasi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merupakan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sebuah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teknik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logical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desain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sebuah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basis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 </a:t>
            </a:r>
            <a:r>
              <a:rPr sz="15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mengelompokkan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suatu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relasi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sehingga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membentuk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struktur</a:t>
            </a:r>
            <a:r>
              <a:rPr sz="15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relasi</a:t>
            </a:r>
            <a:r>
              <a:rPr sz="1500" spc="1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yang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baik</a:t>
            </a:r>
            <a:r>
              <a:rPr sz="150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20" dirty="0">
                <a:solidFill>
                  <a:srgbClr val="212121"/>
                </a:solidFill>
                <a:latin typeface="Lucida Sans Unicode"/>
                <a:cs typeface="Lucida Sans Unicode"/>
              </a:rPr>
              <a:t>(tanpa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40" dirty="0">
                <a:solidFill>
                  <a:srgbClr val="212121"/>
                </a:solidFill>
                <a:latin typeface="Lucida Sans Unicode"/>
                <a:cs typeface="Lucida Sans Unicode"/>
              </a:rPr>
              <a:t>redudansi).</a:t>
            </a:r>
            <a:endParaRPr sz="1500">
              <a:latin typeface="Lucida Sans Unicode"/>
              <a:cs typeface="Lucida Sans Unicode"/>
            </a:endParaRPr>
          </a:p>
          <a:p>
            <a:pPr marL="12700" marR="421640">
              <a:lnSpc>
                <a:spcPts val="1739"/>
              </a:lnSpc>
              <a:spcBef>
                <a:spcPts val="1215"/>
              </a:spcBef>
            </a:pP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Normalisasi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proses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pembentukan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struktur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basis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sehingga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sebagian besar</a:t>
            </a:r>
            <a:r>
              <a:rPr sz="15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ambiguity</a:t>
            </a:r>
            <a:r>
              <a:rPr sz="1500" spc="-6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bisa</a:t>
            </a:r>
            <a:r>
              <a:rPr sz="15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dihilangkan.</a:t>
            </a:r>
            <a:endParaRPr sz="1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Tujuan</a:t>
            </a:r>
            <a:r>
              <a:rPr sz="1500" spc="1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0" dirty="0">
                <a:solidFill>
                  <a:srgbClr val="212121"/>
                </a:solidFill>
                <a:latin typeface="Lucida Sans Unicode"/>
                <a:cs typeface="Lucida Sans Unicode"/>
              </a:rPr>
              <a:t>Normalisasi</a:t>
            </a:r>
            <a:r>
              <a:rPr sz="1500" spc="1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Database:</a:t>
            </a:r>
            <a:endParaRPr sz="1500">
              <a:latin typeface="Lucida Sans Unicode"/>
              <a:cs typeface="Lucida Sans Unicode"/>
            </a:endParaRPr>
          </a:p>
          <a:p>
            <a:pPr marL="469265" indent="-345440">
              <a:lnSpc>
                <a:spcPts val="1770"/>
              </a:lnSpc>
              <a:spcBef>
                <a:spcPts val="1145"/>
              </a:spcBef>
              <a:buFont typeface="Arial MT"/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5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menghilang</a:t>
            </a:r>
            <a:r>
              <a:rPr sz="15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kerangkapan</a:t>
            </a:r>
            <a:r>
              <a:rPr sz="150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endParaRPr sz="1500">
              <a:latin typeface="Lucida Sans Unicode"/>
              <a:cs typeface="Lucida Sans Unicode"/>
            </a:endParaRPr>
          </a:p>
          <a:p>
            <a:pPr marL="469265" indent="-345440">
              <a:lnSpc>
                <a:spcPts val="1745"/>
              </a:lnSpc>
              <a:buFont typeface="Arial MT"/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50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mengurangi</a:t>
            </a:r>
            <a:r>
              <a:rPr sz="150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kompleksitas</a:t>
            </a:r>
            <a:endParaRPr sz="1500">
              <a:latin typeface="Lucida Sans Unicode"/>
              <a:cs typeface="Lucida Sans Unicode"/>
            </a:endParaRPr>
          </a:p>
          <a:p>
            <a:pPr marL="469265" indent="-345440">
              <a:lnSpc>
                <a:spcPts val="1770"/>
              </a:lnSpc>
              <a:buFont typeface="Arial MT"/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500" spc="1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00" dirty="0">
                <a:solidFill>
                  <a:srgbClr val="212121"/>
                </a:solidFill>
                <a:latin typeface="Lucida Sans Unicode"/>
                <a:cs typeface="Lucida Sans Unicode"/>
              </a:rPr>
              <a:t>mempermudah</a:t>
            </a:r>
            <a:r>
              <a:rPr sz="1500" spc="1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pemodifikasian</a:t>
            </a:r>
            <a:r>
              <a:rPr sz="1500" spc="1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Proses</a:t>
            </a:r>
            <a:r>
              <a:rPr spc="-265" dirty="0"/>
              <a:t> </a:t>
            </a:r>
            <a:r>
              <a:rPr spc="-45" dirty="0"/>
              <a:t>Normalisasi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087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pc="80" dirty="0"/>
              <a:t>Data</a:t>
            </a:r>
            <a:r>
              <a:rPr spc="5" dirty="0"/>
              <a:t> </a:t>
            </a:r>
            <a:r>
              <a:rPr spc="10" dirty="0"/>
              <a:t>diuraikan</a:t>
            </a:r>
            <a:r>
              <a:rPr spc="5" dirty="0"/>
              <a:t> </a:t>
            </a:r>
            <a:r>
              <a:rPr spc="114" dirty="0"/>
              <a:t>dalam</a:t>
            </a:r>
            <a:r>
              <a:rPr spc="5" dirty="0"/>
              <a:t> </a:t>
            </a:r>
            <a:r>
              <a:rPr spc="10" dirty="0"/>
              <a:t>bentuk</a:t>
            </a:r>
            <a:r>
              <a:rPr spc="5" dirty="0"/>
              <a:t> </a:t>
            </a:r>
            <a:r>
              <a:rPr spc="10" dirty="0"/>
              <a:t>tabel,</a:t>
            </a:r>
            <a:r>
              <a:rPr spc="5" dirty="0"/>
              <a:t> </a:t>
            </a:r>
            <a:r>
              <a:rPr spc="10" dirty="0"/>
              <a:t>selanjutnya dianalisis</a:t>
            </a:r>
            <a:r>
              <a:rPr spc="5" dirty="0"/>
              <a:t> </a:t>
            </a:r>
            <a:r>
              <a:rPr spc="-10" dirty="0"/>
              <a:t>berdasarkan </a:t>
            </a:r>
            <a:r>
              <a:rPr spc="70" dirty="0"/>
              <a:t>persyaratan</a:t>
            </a:r>
            <a:r>
              <a:rPr spc="-45" dirty="0"/>
              <a:t> </a:t>
            </a:r>
            <a:r>
              <a:rPr dirty="0"/>
              <a:t>tertentu</a:t>
            </a:r>
            <a:r>
              <a:rPr spc="-45" dirty="0"/>
              <a:t> </a:t>
            </a:r>
            <a:r>
              <a:rPr dirty="0"/>
              <a:t>ke</a:t>
            </a:r>
            <a:r>
              <a:rPr spc="-45" dirty="0"/>
              <a:t> </a:t>
            </a:r>
            <a:r>
              <a:rPr spc="100" dirty="0"/>
              <a:t>beberapa</a:t>
            </a:r>
            <a:r>
              <a:rPr spc="-45" dirty="0"/>
              <a:t> </a:t>
            </a:r>
            <a:r>
              <a:rPr spc="-10" dirty="0"/>
              <a:t>tingkat.</a:t>
            </a:r>
          </a:p>
          <a:p>
            <a:pPr marL="12700" marR="86360">
              <a:lnSpc>
                <a:spcPct val="114999"/>
              </a:lnSpc>
              <a:spcBef>
                <a:spcPts val="1200"/>
              </a:spcBef>
            </a:pPr>
            <a:r>
              <a:rPr spc="55" dirty="0"/>
              <a:t>Apabila</a:t>
            </a:r>
            <a:r>
              <a:rPr spc="-75" dirty="0"/>
              <a:t> </a:t>
            </a:r>
            <a:r>
              <a:rPr spc="60" dirty="0"/>
              <a:t>tabel</a:t>
            </a:r>
            <a:r>
              <a:rPr spc="-75" dirty="0"/>
              <a:t> </a:t>
            </a:r>
            <a:r>
              <a:rPr spc="100" dirty="0"/>
              <a:t>yang</a:t>
            </a:r>
            <a:r>
              <a:rPr spc="-75" dirty="0"/>
              <a:t> </a:t>
            </a:r>
            <a:r>
              <a:rPr spc="-30" dirty="0"/>
              <a:t>diuji</a:t>
            </a:r>
            <a:r>
              <a:rPr spc="-75" dirty="0"/>
              <a:t> </a:t>
            </a:r>
            <a:r>
              <a:rPr spc="65" dirty="0"/>
              <a:t>belum</a:t>
            </a:r>
            <a:r>
              <a:rPr spc="-75" dirty="0"/>
              <a:t> </a:t>
            </a:r>
            <a:r>
              <a:rPr spc="65" dirty="0"/>
              <a:t>memenuhi</a:t>
            </a:r>
            <a:r>
              <a:rPr spc="-75" dirty="0"/>
              <a:t> </a:t>
            </a:r>
            <a:r>
              <a:rPr spc="70" dirty="0"/>
              <a:t>persyaratan</a:t>
            </a:r>
            <a:r>
              <a:rPr spc="-75" dirty="0"/>
              <a:t> </a:t>
            </a:r>
            <a:r>
              <a:rPr spc="-10" dirty="0"/>
              <a:t>tertentu,</a:t>
            </a:r>
            <a:r>
              <a:rPr spc="-70" dirty="0"/>
              <a:t> </a:t>
            </a:r>
            <a:r>
              <a:rPr spc="75" dirty="0"/>
              <a:t>maka </a:t>
            </a:r>
            <a:r>
              <a:rPr spc="60" dirty="0"/>
              <a:t>tabel</a:t>
            </a:r>
            <a:r>
              <a:rPr spc="-50" dirty="0"/>
              <a:t> </a:t>
            </a:r>
            <a:r>
              <a:rPr dirty="0"/>
              <a:t>tersebut</a:t>
            </a:r>
            <a:r>
              <a:rPr spc="-50" dirty="0"/>
              <a:t> </a:t>
            </a:r>
            <a:r>
              <a:rPr dirty="0"/>
              <a:t>perlu</a:t>
            </a:r>
            <a:r>
              <a:rPr spc="-50" dirty="0"/>
              <a:t> </a:t>
            </a:r>
            <a:r>
              <a:rPr spc="85" dirty="0"/>
              <a:t>dipecah</a:t>
            </a:r>
            <a:r>
              <a:rPr spc="-50" dirty="0"/>
              <a:t> </a:t>
            </a:r>
            <a:r>
              <a:rPr spc="60" dirty="0"/>
              <a:t>menjadi</a:t>
            </a:r>
            <a:r>
              <a:rPr spc="-50" dirty="0"/>
              <a:t> </a:t>
            </a:r>
            <a:r>
              <a:rPr spc="100" dirty="0"/>
              <a:t>beberapa</a:t>
            </a:r>
            <a:r>
              <a:rPr spc="-50" dirty="0"/>
              <a:t> </a:t>
            </a:r>
            <a:r>
              <a:rPr spc="60" dirty="0"/>
              <a:t>tabel</a:t>
            </a:r>
            <a:r>
              <a:rPr spc="-50" dirty="0"/>
              <a:t> </a:t>
            </a:r>
            <a:r>
              <a:rPr spc="100" dirty="0"/>
              <a:t>yang</a:t>
            </a:r>
            <a:r>
              <a:rPr spc="-50" dirty="0"/>
              <a:t> </a:t>
            </a:r>
            <a:r>
              <a:rPr spc="-10" dirty="0"/>
              <a:t>lebih </a:t>
            </a:r>
            <a:r>
              <a:rPr spc="80" dirty="0"/>
              <a:t>sederhana</a:t>
            </a:r>
            <a:r>
              <a:rPr spc="-55" dirty="0"/>
              <a:t> </a:t>
            </a:r>
            <a:r>
              <a:rPr spc="100" dirty="0"/>
              <a:t>sampai</a:t>
            </a:r>
            <a:r>
              <a:rPr spc="-50" dirty="0"/>
              <a:t> </a:t>
            </a:r>
            <a:r>
              <a:rPr spc="65" dirty="0"/>
              <a:t>memenuhi</a:t>
            </a:r>
            <a:r>
              <a:rPr spc="-50" dirty="0"/>
              <a:t> </a:t>
            </a:r>
            <a:r>
              <a:rPr dirty="0"/>
              <a:t>bentuk</a:t>
            </a:r>
            <a:r>
              <a:rPr spc="-50" dirty="0"/>
              <a:t> </a:t>
            </a:r>
            <a:r>
              <a:rPr spc="100" dirty="0"/>
              <a:t>yang</a:t>
            </a:r>
            <a:r>
              <a:rPr spc="-50" dirty="0"/>
              <a:t> </a:t>
            </a:r>
            <a:r>
              <a:rPr spc="-10" dirty="0"/>
              <a:t>optimal.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0" dirty="0"/>
              <a:t>Contoh</a:t>
            </a:r>
            <a:r>
              <a:rPr spc="-254" dirty="0"/>
              <a:t> </a:t>
            </a:r>
            <a:r>
              <a:rPr spc="-50" dirty="0"/>
              <a:t>Normalisasi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00739"/>
            <a:ext cx="8321675" cy="37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100"/>
              </a:spcBef>
            </a:pPr>
            <a:r>
              <a:rPr sz="10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melakukan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normalisasi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database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kita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harus</a:t>
            </a:r>
            <a:r>
              <a:rPr sz="10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mengidentifikasi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seperti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apa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akan</a:t>
            </a:r>
            <a:r>
              <a:rPr sz="10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disimpan.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Sebagai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contoh</a:t>
            </a:r>
            <a:r>
              <a:rPr sz="1000" spc="2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terdapat </a:t>
            </a:r>
            <a:r>
              <a:rPr sz="10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0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struk</a:t>
            </a:r>
            <a:r>
              <a:rPr sz="10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penjualan.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Contohnya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0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struk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penjualan</a:t>
            </a:r>
            <a:r>
              <a:rPr sz="10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karena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ini</a:t>
            </a:r>
            <a:r>
              <a:rPr sz="10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yang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paling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umum</a:t>
            </a:r>
            <a:r>
              <a:rPr sz="10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12121"/>
                </a:solidFill>
                <a:latin typeface="Lucida Sans Unicode"/>
                <a:cs typeface="Lucida Sans Unicode"/>
              </a:rPr>
              <a:t>di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sekitar</a:t>
            </a:r>
            <a:r>
              <a:rPr sz="1000" spc="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kita.</a:t>
            </a:r>
            <a:endParaRPr sz="10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160275"/>
            <a:ext cx="8839197" cy="18490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0" dirty="0"/>
              <a:t>Contoh</a:t>
            </a:r>
            <a:r>
              <a:rPr spc="-245" dirty="0"/>
              <a:t> </a:t>
            </a:r>
            <a:r>
              <a:rPr spc="-65" dirty="0"/>
              <a:t>Normalisasi</a:t>
            </a:r>
            <a:r>
              <a:rPr spc="-245" dirty="0"/>
              <a:t> </a:t>
            </a:r>
            <a:r>
              <a:rPr spc="-440" dirty="0"/>
              <a:t>1NF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09792"/>
            <a:ext cx="8218805" cy="52070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244"/>
              </a:spcBef>
            </a:pPr>
            <a:r>
              <a:rPr sz="16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Suatu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tabel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dikatakan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210" dirty="0">
                <a:solidFill>
                  <a:srgbClr val="212121"/>
                </a:solidFill>
                <a:latin typeface="Lucida Sans Unicode"/>
                <a:cs typeface="Lucida Sans Unicode"/>
              </a:rPr>
              <a:t>1NF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jika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hanya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jika</a:t>
            </a:r>
            <a:r>
              <a:rPr sz="1650" spc="-4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5" dirty="0">
                <a:solidFill>
                  <a:srgbClr val="212121"/>
                </a:solidFill>
                <a:latin typeface="Lucida Sans Unicode"/>
                <a:cs typeface="Lucida Sans Unicode"/>
              </a:rPr>
              <a:t>setiap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atribut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dari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20" dirty="0">
                <a:solidFill>
                  <a:srgbClr val="212121"/>
                </a:solidFill>
                <a:latin typeface="Lucida Sans Unicode"/>
                <a:cs typeface="Lucida Sans Unicode"/>
              </a:rPr>
              <a:t>data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tersebut </a:t>
            </a:r>
            <a:r>
              <a:rPr sz="165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hanya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memiliki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nilai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tunggal</a:t>
            </a:r>
            <a:r>
              <a:rPr sz="165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65" dirty="0">
                <a:solidFill>
                  <a:srgbClr val="212121"/>
                </a:solidFill>
                <a:latin typeface="Lucida Sans Unicode"/>
                <a:cs typeface="Lucida Sans Unicode"/>
              </a:rPr>
              <a:t>satu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baris.</a:t>
            </a:r>
            <a:endParaRPr sz="16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49278"/>
            <a:ext cx="9144000" cy="23569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732673"/>
            <a:ext cx="396811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40" dirty="0">
                <a:solidFill>
                  <a:srgbClr val="554CAD"/>
                </a:solidFill>
                <a:latin typeface="Arial Black"/>
                <a:cs typeface="Arial Black"/>
              </a:rPr>
              <a:t>Contoh</a:t>
            </a:r>
            <a:r>
              <a:rPr sz="2500" spc="-245" dirty="0">
                <a:solidFill>
                  <a:srgbClr val="554CAD"/>
                </a:solidFill>
                <a:latin typeface="Arial Black"/>
                <a:cs typeface="Arial Black"/>
              </a:rPr>
              <a:t> </a:t>
            </a:r>
            <a:r>
              <a:rPr sz="2500" spc="-65" dirty="0">
                <a:solidFill>
                  <a:srgbClr val="554CAD"/>
                </a:solidFill>
                <a:latin typeface="Arial Black"/>
                <a:cs typeface="Arial Black"/>
              </a:rPr>
              <a:t>Normalisasi</a:t>
            </a:r>
            <a:r>
              <a:rPr sz="2500" spc="-245" dirty="0">
                <a:solidFill>
                  <a:srgbClr val="554CAD"/>
                </a:solidFill>
                <a:latin typeface="Arial Black"/>
                <a:cs typeface="Arial Black"/>
              </a:rPr>
              <a:t> </a:t>
            </a:r>
            <a:r>
              <a:rPr sz="2500" spc="-180" dirty="0">
                <a:solidFill>
                  <a:srgbClr val="554CAD"/>
                </a:solidFill>
                <a:latin typeface="Arial Black"/>
                <a:cs typeface="Arial Black"/>
              </a:rPr>
              <a:t>2NF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09792"/>
            <a:ext cx="7012305" cy="52070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244"/>
              </a:spcBef>
            </a:pPr>
            <a:r>
              <a:rPr sz="165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Syarat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2NF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10" dirty="0">
                <a:solidFill>
                  <a:srgbClr val="212121"/>
                </a:solidFill>
                <a:latin typeface="Lucida Sans Unicode"/>
                <a:cs typeface="Lucida Sans Unicode"/>
              </a:rPr>
              <a:t>adalah</a:t>
            </a:r>
            <a:r>
              <a:rPr sz="16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tidak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diperkenankan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30" dirty="0">
                <a:solidFill>
                  <a:srgbClr val="212121"/>
                </a:solidFill>
                <a:latin typeface="Lucida Sans Unicode"/>
                <a:cs typeface="Lucida Sans Unicode"/>
              </a:rPr>
              <a:t>adanya</a:t>
            </a:r>
            <a:r>
              <a:rPr sz="1650" spc="-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partial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 “functional </a:t>
            </a:r>
            <a:r>
              <a:rPr sz="1650" spc="70" dirty="0">
                <a:solidFill>
                  <a:srgbClr val="212121"/>
                </a:solidFill>
                <a:latin typeface="Lucida Sans Unicode"/>
                <a:cs typeface="Lucida Sans Unicode"/>
              </a:rPr>
              <a:t>dependency”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95" dirty="0">
                <a:solidFill>
                  <a:srgbClr val="212121"/>
                </a:solidFill>
                <a:latin typeface="Lucida Sans Unicode"/>
                <a:cs typeface="Lucida Sans Unicode"/>
              </a:rPr>
              <a:t>kepada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50" dirty="0">
                <a:solidFill>
                  <a:srgbClr val="212121"/>
                </a:solidFill>
                <a:latin typeface="Lucida Sans Unicode"/>
                <a:cs typeface="Lucida Sans Unicode"/>
              </a:rPr>
              <a:t>primary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212121"/>
                </a:solidFill>
                <a:latin typeface="Lucida Sans Unicode"/>
                <a:cs typeface="Lucida Sans Unicode"/>
              </a:rPr>
              <a:t>key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85" dirty="0">
                <a:solidFill>
                  <a:srgbClr val="212121"/>
                </a:solidFill>
                <a:latin typeface="Lucida Sans Unicode"/>
                <a:cs typeface="Lucida Sans Unicode"/>
              </a:rPr>
              <a:t>sebuah</a:t>
            </a:r>
            <a:r>
              <a:rPr sz="165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tabel.</a:t>
            </a:r>
            <a:endParaRPr sz="16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201675"/>
            <a:ext cx="8839196" cy="19372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0" dirty="0"/>
              <a:t>Contoh</a:t>
            </a:r>
            <a:r>
              <a:rPr spc="-245" dirty="0"/>
              <a:t> </a:t>
            </a:r>
            <a:r>
              <a:rPr spc="-65" dirty="0"/>
              <a:t>Normalisasi</a:t>
            </a:r>
            <a:r>
              <a:rPr spc="-245" dirty="0"/>
              <a:t> </a:t>
            </a:r>
            <a:r>
              <a:rPr spc="-150" dirty="0"/>
              <a:t>3NF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11300"/>
            <a:ext cx="8331834" cy="48069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739"/>
              </a:lnSpc>
              <a:spcBef>
                <a:spcPts val="235"/>
              </a:spcBef>
            </a:pPr>
            <a:r>
              <a:rPr sz="1500" spc="135" dirty="0">
                <a:solidFill>
                  <a:srgbClr val="212121"/>
                </a:solidFill>
                <a:latin typeface="Lucida Sans Unicode"/>
                <a:cs typeface="Lucida Sans Unicode"/>
              </a:rPr>
              <a:t>Pada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Lucida Sans Unicode"/>
                <a:cs typeface="Lucida Sans Unicode"/>
              </a:rPr>
              <a:t>3NF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tidak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45" dirty="0">
                <a:solidFill>
                  <a:srgbClr val="212121"/>
                </a:solidFill>
                <a:latin typeface="Lucida Sans Unicode"/>
                <a:cs typeface="Lucida Sans Unicode"/>
              </a:rPr>
              <a:t>diperkenankan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35" dirty="0">
                <a:solidFill>
                  <a:srgbClr val="212121"/>
                </a:solidFill>
                <a:latin typeface="Lucida Sans Unicode"/>
                <a:cs typeface="Lucida Sans Unicode"/>
              </a:rPr>
              <a:t>adanya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partial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212121"/>
                </a:solidFill>
                <a:latin typeface="Lucida Sans Unicode"/>
                <a:cs typeface="Lucida Sans Unicode"/>
              </a:rPr>
              <a:t>“transitive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dependency”</a:t>
            </a:r>
            <a:r>
              <a:rPr sz="1500" spc="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114" dirty="0">
                <a:solidFill>
                  <a:srgbClr val="212121"/>
                </a:solidFill>
                <a:latin typeface="Lucida Sans Unicode"/>
                <a:cs typeface="Lucida Sans Unicode"/>
              </a:rPr>
              <a:t>dalam</a:t>
            </a:r>
            <a:r>
              <a:rPr sz="1500" spc="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5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sebuah </a:t>
            </a:r>
            <a:r>
              <a:rPr sz="15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tabel.</a:t>
            </a:r>
            <a:endParaRPr sz="15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224" y="1712699"/>
            <a:ext cx="5858869" cy="28515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732673"/>
            <a:ext cx="74676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70" dirty="0">
                <a:solidFill>
                  <a:srgbClr val="554CAD"/>
                </a:solidFill>
                <a:latin typeface="Arial Black"/>
                <a:cs typeface="Arial Black"/>
              </a:rPr>
              <a:t>Quiz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78107"/>
            <a:ext cx="718820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Buatlah</a:t>
            </a:r>
            <a:r>
              <a:rPr sz="1800" spc="-9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212121"/>
                </a:solidFill>
                <a:latin typeface="Lucida Sans Unicode"/>
                <a:cs typeface="Lucida Sans Unicode"/>
              </a:rPr>
              <a:t>ER</a:t>
            </a:r>
            <a:r>
              <a:rPr sz="1800" spc="-8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212121"/>
                </a:solidFill>
                <a:latin typeface="Lucida Sans Unicode"/>
                <a:cs typeface="Lucida Sans Unicode"/>
              </a:rPr>
              <a:t>sederhana</a:t>
            </a:r>
            <a:r>
              <a:rPr sz="1800" spc="-8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untuk</a:t>
            </a:r>
            <a:r>
              <a:rPr sz="1800" spc="-8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212121"/>
                </a:solidFill>
                <a:latin typeface="Lucida Sans Unicode"/>
                <a:cs typeface="Lucida Sans Unicode"/>
              </a:rPr>
              <a:t>use</a:t>
            </a:r>
            <a:r>
              <a:rPr sz="1800" spc="-8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20" dirty="0">
                <a:solidFill>
                  <a:srgbClr val="212121"/>
                </a:solidFill>
                <a:latin typeface="Lucida Sans Unicode"/>
                <a:cs typeface="Lucida Sans Unicode"/>
              </a:rPr>
              <a:t>case</a:t>
            </a:r>
            <a:r>
              <a:rPr sz="1800" spc="-9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212121"/>
                </a:solidFill>
                <a:latin typeface="Lucida Sans Unicode"/>
                <a:cs typeface="Lucida Sans Unicode"/>
              </a:rPr>
              <a:t>HR</a:t>
            </a:r>
            <a:r>
              <a:rPr sz="1800" spc="-8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90" dirty="0">
                <a:solidFill>
                  <a:srgbClr val="212121"/>
                </a:solidFill>
                <a:latin typeface="Lucida Sans Unicode"/>
                <a:cs typeface="Lucida Sans Unicode"/>
              </a:rPr>
              <a:t>Database</a:t>
            </a:r>
            <a:r>
              <a:rPr sz="1800" spc="-8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35" dirty="0">
                <a:solidFill>
                  <a:srgbClr val="212121"/>
                </a:solidFill>
                <a:latin typeface="Lucida Sans Unicode"/>
                <a:cs typeface="Lucida Sans Unicode"/>
              </a:rPr>
              <a:t>pada</a:t>
            </a:r>
            <a:r>
              <a:rPr sz="1800" spc="-8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tabel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Employee,</a:t>
            </a: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212121"/>
                </a:solidFill>
                <a:latin typeface="Lucida Sans Unicode"/>
                <a:cs typeface="Lucida Sans Unicode"/>
              </a:rPr>
              <a:t>Job,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dan</a:t>
            </a:r>
            <a:r>
              <a:rPr sz="1800" spc="-2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Lucida Sans Unicode"/>
                <a:cs typeface="Lucida Sans Unicode"/>
              </a:rPr>
              <a:t>Department.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0575" y="164150"/>
            <a:ext cx="5792824" cy="44771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842898"/>
            <a:ext cx="27419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40" dirty="0">
                <a:solidFill>
                  <a:srgbClr val="554CAD"/>
                </a:solidFill>
                <a:latin typeface="Arial Black"/>
                <a:cs typeface="Arial Black"/>
              </a:rPr>
              <a:t>Pengenalan</a:t>
            </a:r>
            <a:r>
              <a:rPr sz="2500" spc="-220" dirty="0">
                <a:solidFill>
                  <a:srgbClr val="554CAD"/>
                </a:solidFill>
                <a:latin typeface="Arial Black"/>
                <a:cs typeface="Arial Black"/>
              </a:rPr>
              <a:t> </a:t>
            </a:r>
            <a:r>
              <a:rPr sz="2500" spc="-75" dirty="0">
                <a:solidFill>
                  <a:srgbClr val="554CAD"/>
                </a:solidFill>
                <a:latin typeface="Arial Black"/>
                <a:cs typeface="Arial Black"/>
              </a:rPr>
              <a:t>Misi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419256"/>
            <a:ext cx="5574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212121"/>
                </a:solidFill>
                <a:latin typeface="Lucida Sans Unicode"/>
                <a:cs typeface="Lucida Sans Unicode"/>
              </a:rPr>
              <a:t>Misi</a:t>
            </a:r>
            <a:r>
              <a:rPr sz="1800" spc="-40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212121"/>
                </a:solidFill>
                <a:latin typeface="Lucida Sans Unicode"/>
                <a:cs typeface="Lucida Sans Unicode"/>
              </a:rPr>
              <a:t>dapat</a:t>
            </a:r>
            <a:r>
              <a:rPr sz="18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12121"/>
                </a:solidFill>
                <a:latin typeface="Lucida Sans Unicode"/>
                <a:cs typeface="Lucida Sans Unicode"/>
              </a:rPr>
              <a:t>diakses</a:t>
            </a:r>
            <a:r>
              <a:rPr sz="18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12121"/>
                </a:solidFill>
                <a:latin typeface="Lucida Sans Unicode"/>
                <a:cs typeface="Lucida Sans Unicode"/>
              </a:rPr>
              <a:t>di:</a:t>
            </a:r>
            <a:r>
              <a:rPr sz="1800" spc="-35" dirty="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Lucida Sans Unicode"/>
                <a:cs typeface="Lucida Sans Unicode"/>
                <a:hlinkClick r:id="rId2"/>
              </a:rPr>
              <a:t>https://academy.dqlab.id/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1659</Words>
  <Application>Microsoft Office PowerPoint</Application>
  <PresentationFormat>On-screen Show (16:9)</PresentationFormat>
  <Paragraphs>109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Arial MT</vt:lpstr>
      <vt:lpstr>Lucida Sans Unicode</vt:lpstr>
      <vt:lpstr>Verdana</vt:lpstr>
      <vt:lpstr>Office Theme</vt:lpstr>
      <vt:lpstr>Pengantar Google Cloud Platform Dan Database</vt:lpstr>
      <vt:lpstr>Google Cloud Platform Introduction</vt:lpstr>
      <vt:lpstr>Cloud vs On Premise</vt:lpstr>
      <vt:lpstr>BigQuery</vt:lpstr>
      <vt:lpstr>Looker</vt:lpstr>
      <vt:lpstr>Google Colab</vt:lpstr>
      <vt:lpstr>Database</vt:lpstr>
      <vt:lpstr>Database System</vt:lpstr>
      <vt:lpstr>Entity Relationship Diagram (ERD)</vt:lpstr>
      <vt:lpstr>Jenis-Jenis Entitas</vt:lpstr>
      <vt:lpstr>Jenis-Jenis Atribut</vt:lpstr>
      <vt:lpstr>Tahapan Umum Pembuatan ERD</vt:lpstr>
      <vt:lpstr>Contoh Diagram ERD</vt:lpstr>
      <vt:lpstr>Normalisasi Database</vt:lpstr>
      <vt:lpstr>Proses Normalisasi</vt:lpstr>
      <vt:lpstr>Contoh Normalisasi</vt:lpstr>
      <vt:lpstr>Contoh Normalisasi 1NF</vt:lpstr>
      <vt:lpstr>PowerPoint Presentation</vt:lpstr>
      <vt:lpstr>Contoh Normalisasi 3NF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DQLab Bootcamp Data Analyst SQL - Pengantar.pptx</dc:title>
  <dc:creator>Ahmad Ricky Ghozali</dc:creator>
  <cp:lastModifiedBy>Ahmad Ricky Ghozali</cp:lastModifiedBy>
  <cp:revision>1</cp:revision>
  <dcterms:created xsi:type="dcterms:W3CDTF">2026-02-05T12:00:15Z</dcterms:created>
  <dcterms:modified xsi:type="dcterms:W3CDTF">2026-02-05T12:01:08Z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2026-02-05T00:00:00Z</vt:filetime>
  </property>
</Properties>
</file>